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5.xml" ContentType="application/vnd.openxmlformats-officedocument.themeOverride+xml"/>
  <Override PartName="/ppt/theme/themeOverride6.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7.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60" r:id="rId2"/>
    <p:sldId id="261" r:id="rId3"/>
    <p:sldId id="262" r:id="rId4"/>
    <p:sldId id="266" r:id="rId5"/>
    <p:sldId id="292" r:id="rId6"/>
    <p:sldId id="263" r:id="rId7"/>
    <p:sldId id="272" r:id="rId8"/>
    <p:sldId id="293" r:id="rId9"/>
    <p:sldId id="294" r:id="rId10"/>
    <p:sldId id="264" r:id="rId11"/>
    <p:sldId id="295" r:id="rId12"/>
    <p:sldId id="296" r:id="rId13"/>
    <p:sldId id="297" r:id="rId14"/>
    <p:sldId id="265" r:id="rId15"/>
    <p:sldId id="298" r:id="rId16"/>
    <p:sldId id="299" r:id="rId17"/>
    <p:sldId id="300" r:id="rId18"/>
    <p:sldId id="301" r:id="rId19"/>
    <p:sldId id="286"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2D30"/>
    <a:srgbClr val="040404"/>
    <a:srgbClr val="050505"/>
    <a:srgbClr val="0A0A0A"/>
    <a:srgbClr val="090909"/>
    <a:srgbClr val="000000"/>
    <a:srgbClr val="CD6A65"/>
    <a:srgbClr val="C2C2C2"/>
    <a:srgbClr val="E72D30"/>
    <a:srgbClr val="F23B4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59" autoAdjust="0"/>
    <p:restoredTop sz="95394" autoAdjust="0"/>
  </p:normalViewPr>
  <p:slideViewPr>
    <p:cSldViewPr snapToGrid="0">
      <p:cViewPr varScale="1">
        <p:scale>
          <a:sx n="95" d="100"/>
          <a:sy n="95" d="100"/>
        </p:scale>
        <p:origin x="528" y="6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5086D5-EE45-46A3-863D-A8CC5AC46D12}" type="datetimeFigureOut">
              <a:rPr lang="zh-CN" altLang="en-US" smtClean="0"/>
              <a:t>2024/10/14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16D01D-9FF7-4938-A3BD-0314182DF048}" type="slidenum">
              <a:rPr lang="zh-CN" altLang="en-US" smtClean="0"/>
              <a:t>‹#›</a:t>
            </a:fld>
            <a:endParaRPr lang="zh-CN" altLang="en-US"/>
          </a:p>
        </p:txBody>
      </p:sp>
    </p:spTree>
    <p:extLst>
      <p:ext uri="{BB962C8B-B14F-4D97-AF65-F5344CB8AC3E}">
        <p14:creationId xmlns:p14="http://schemas.microsoft.com/office/powerpoint/2010/main" val="26658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E16D01D-9FF7-4938-A3BD-0314182DF048}" type="slidenum">
              <a:rPr lang="zh-CN" altLang="en-US" smtClean="0"/>
              <a:t>1</a:t>
            </a:fld>
            <a:endParaRPr lang="zh-CN" altLang="en-US"/>
          </a:p>
        </p:txBody>
      </p:sp>
    </p:spTree>
    <p:extLst>
      <p:ext uri="{BB962C8B-B14F-4D97-AF65-F5344CB8AC3E}">
        <p14:creationId xmlns:p14="http://schemas.microsoft.com/office/powerpoint/2010/main" val="40406672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E16D01D-9FF7-4938-A3BD-0314182DF048}" type="slidenum">
              <a:rPr lang="zh-CN" altLang="en-US" smtClean="0"/>
              <a:t>4</a:t>
            </a:fld>
            <a:endParaRPr lang="zh-CN" altLang="en-US"/>
          </a:p>
        </p:txBody>
      </p:sp>
    </p:spTree>
    <p:extLst>
      <p:ext uri="{BB962C8B-B14F-4D97-AF65-F5344CB8AC3E}">
        <p14:creationId xmlns:p14="http://schemas.microsoft.com/office/powerpoint/2010/main" val="401010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E16D01D-9FF7-4938-A3BD-0314182DF048}" type="slidenum">
              <a:rPr lang="zh-CN" altLang="en-US" smtClean="0"/>
              <a:t>5</a:t>
            </a:fld>
            <a:endParaRPr lang="zh-CN" altLang="en-US"/>
          </a:p>
        </p:txBody>
      </p:sp>
    </p:spTree>
    <p:extLst>
      <p:ext uri="{BB962C8B-B14F-4D97-AF65-F5344CB8AC3E}">
        <p14:creationId xmlns:p14="http://schemas.microsoft.com/office/powerpoint/2010/main" val="28088101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E16D01D-9FF7-4938-A3BD-0314182DF048}" type="slidenum">
              <a:rPr lang="zh-CN" altLang="en-US" smtClean="0"/>
              <a:t>11</a:t>
            </a:fld>
            <a:endParaRPr lang="zh-CN" altLang="en-US"/>
          </a:p>
        </p:txBody>
      </p:sp>
    </p:spTree>
    <p:extLst>
      <p:ext uri="{BB962C8B-B14F-4D97-AF65-F5344CB8AC3E}">
        <p14:creationId xmlns:p14="http://schemas.microsoft.com/office/powerpoint/2010/main" val="12455986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E16D01D-9FF7-4938-A3BD-0314182DF048}" type="slidenum">
              <a:rPr lang="zh-CN" altLang="en-US" smtClean="0"/>
              <a:t>12</a:t>
            </a:fld>
            <a:endParaRPr lang="zh-CN" altLang="en-US"/>
          </a:p>
        </p:txBody>
      </p:sp>
    </p:spTree>
    <p:extLst>
      <p:ext uri="{BB962C8B-B14F-4D97-AF65-F5344CB8AC3E}">
        <p14:creationId xmlns:p14="http://schemas.microsoft.com/office/powerpoint/2010/main" val="41518043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E16D01D-9FF7-4938-A3BD-0314182DF048}" type="slidenum">
              <a:rPr lang="zh-CN" altLang="en-US" smtClean="0"/>
              <a:t>13</a:t>
            </a:fld>
            <a:endParaRPr lang="zh-CN" altLang="en-US"/>
          </a:p>
        </p:txBody>
      </p:sp>
    </p:spTree>
    <p:extLst>
      <p:ext uri="{BB962C8B-B14F-4D97-AF65-F5344CB8AC3E}">
        <p14:creationId xmlns:p14="http://schemas.microsoft.com/office/powerpoint/2010/main" val="1185436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E16D01D-9FF7-4938-A3BD-0314182DF048}" type="slidenum">
              <a:rPr lang="zh-CN" altLang="en-US" smtClean="0"/>
              <a:t>15</a:t>
            </a:fld>
            <a:endParaRPr lang="zh-CN" altLang="en-US"/>
          </a:p>
        </p:txBody>
      </p:sp>
    </p:spTree>
    <p:extLst>
      <p:ext uri="{BB962C8B-B14F-4D97-AF65-F5344CB8AC3E}">
        <p14:creationId xmlns:p14="http://schemas.microsoft.com/office/powerpoint/2010/main" val="38790711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E16D01D-9FF7-4938-A3BD-0314182DF048}" type="slidenum">
              <a:rPr lang="zh-CN" altLang="en-US" smtClean="0"/>
              <a:t>16</a:t>
            </a:fld>
            <a:endParaRPr lang="zh-CN" altLang="en-US"/>
          </a:p>
        </p:txBody>
      </p:sp>
    </p:spTree>
    <p:extLst>
      <p:ext uri="{BB962C8B-B14F-4D97-AF65-F5344CB8AC3E}">
        <p14:creationId xmlns:p14="http://schemas.microsoft.com/office/powerpoint/2010/main" val="40917239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E16D01D-9FF7-4938-A3BD-0314182DF048}" type="slidenum">
              <a:rPr lang="zh-CN" altLang="en-US" smtClean="0"/>
              <a:t>17</a:t>
            </a:fld>
            <a:endParaRPr lang="zh-CN" altLang="en-US"/>
          </a:p>
        </p:txBody>
      </p:sp>
    </p:spTree>
    <p:extLst>
      <p:ext uri="{BB962C8B-B14F-4D97-AF65-F5344CB8AC3E}">
        <p14:creationId xmlns:p14="http://schemas.microsoft.com/office/powerpoint/2010/main" val="14781852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E16D01D-9FF7-4938-A3BD-0314182DF048}" type="slidenum">
              <a:rPr lang="zh-CN" altLang="en-US" smtClean="0"/>
              <a:t>18</a:t>
            </a:fld>
            <a:endParaRPr lang="zh-CN" altLang="en-US"/>
          </a:p>
        </p:txBody>
      </p:sp>
    </p:spTree>
    <p:extLst>
      <p:ext uri="{BB962C8B-B14F-4D97-AF65-F5344CB8AC3E}">
        <p14:creationId xmlns:p14="http://schemas.microsoft.com/office/powerpoint/2010/main" val="686936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6338845"/>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416137"/>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779122402"/>
      </p:ext>
    </p:extLst>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4.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5.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4">
            <a:extLst>
              <a:ext uri="{28A0092B-C50C-407E-A947-70E740481C1C}">
                <a14:useLocalDpi xmlns:a14="http://schemas.microsoft.com/office/drawing/2010/main" val="0"/>
              </a:ext>
            </a:extLst>
          </a:blip>
          <a:srcRect b="5827"/>
          <a:stretch/>
        </p:blipFill>
        <p:spPr>
          <a:xfrm rot="10800000">
            <a:off x="0" y="0"/>
            <a:ext cx="12192000" cy="6858000"/>
          </a:xfrm>
          <a:prstGeom prst="rect">
            <a:avLst/>
          </a:prstGeom>
        </p:spPr>
      </p:pic>
      <p:sp>
        <p:nvSpPr>
          <p:cNvPr id="9" name="文本框 8"/>
          <p:cNvSpPr txBox="1"/>
          <p:nvPr/>
        </p:nvSpPr>
        <p:spPr>
          <a:xfrm>
            <a:off x="841380" y="3243540"/>
            <a:ext cx="10965180" cy="1015663"/>
          </a:xfrm>
          <a:prstGeom prst="rect">
            <a:avLst/>
          </a:prstGeom>
          <a:noFill/>
        </p:spPr>
        <p:txBody>
          <a:bodyPr wrap="square" rtlCol="0">
            <a:spAutoFit/>
          </a:bodyPr>
          <a:lstStyle/>
          <a:p>
            <a:pPr algn="ctr"/>
            <a:r>
              <a:rPr lang="zh-CN" altLang="en-US" sz="6000" dirty="0">
                <a:solidFill>
                  <a:srgbClr val="E62D30"/>
                </a:solidFill>
                <a:latin typeface="张海山锐谐体" panose="02000000000000000000" pitchFamily="2" charset="-122"/>
                <a:ea typeface="张海山锐谐体" panose="02000000000000000000" pitchFamily="2" charset="-122"/>
              </a:rPr>
              <a:t>分布式数据库部署与研究</a:t>
            </a:r>
          </a:p>
        </p:txBody>
      </p:sp>
      <p:sp>
        <p:nvSpPr>
          <p:cNvPr id="10" name="文本框 9"/>
          <p:cNvSpPr txBox="1"/>
          <p:nvPr/>
        </p:nvSpPr>
        <p:spPr>
          <a:xfrm>
            <a:off x="723900" y="4508100"/>
            <a:ext cx="10965180" cy="338554"/>
          </a:xfrm>
          <a:prstGeom prst="rect">
            <a:avLst/>
          </a:prstGeom>
          <a:noFill/>
        </p:spPr>
        <p:txBody>
          <a:bodyPr wrap="square" rtlCol="0">
            <a:spAutoFit/>
          </a:bodyPr>
          <a:lstStyle/>
          <a:p>
            <a:pPr algn="ctr"/>
            <a:r>
              <a:rPr lang="en-US" altLang="zh-CN" sz="1600" dirty="0">
                <a:solidFill>
                  <a:schemeClr val="bg1"/>
                </a:solidFill>
                <a:latin typeface="张海山锐谐体" panose="02000000000000000000" pitchFamily="2" charset="-122"/>
                <a:ea typeface="张海山锐谐体" panose="02000000000000000000" pitchFamily="2" charset="-122"/>
              </a:rPr>
              <a:t>Distributed Database Deployment on MySQL and Redis</a:t>
            </a:r>
            <a:endParaRPr lang="zh-CN" altLang="en-US" sz="1600" dirty="0">
              <a:solidFill>
                <a:schemeClr val="bg1"/>
              </a:solidFill>
              <a:latin typeface="张海山锐谐体" panose="02000000000000000000" pitchFamily="2" charset="-122"/>
              <a:ea typeface="张海山锐谐体" panose="02000000000000000000" pitchFamily="2" charset="-122"/>
            </a:endParaRPr>
          </a:p>
        </p:txBody>
      </p:sp>
      <p:sp>
        <p:nvSpPr>
          <p:cNvPr id="11" name="Freeform 6"/>
          <p:cNvSpPr>
            <a:spLocks/>
          </p:cNvSpPr>
          <p:nvPr/>
        </p:nvSpPr>
        <p:spPr bwMode="auto">
          <a:xfrm rot="5400000">
            <a:off x="6076573" y="5615821"/>
            <a:ext cx="259835" cy="234958"/>
          </a:xfrm>
          <a:custGeom>
            <a:avLst/>
            <a:gdLst>
              <a:gd name="T0" fmla="*/ 52 w 94"/>
              <a:gd name="T1" fmla="*/ 0 h 85"/>
              <a:gd name="T2" fmla="*/ 45 w 94"/>
              <a:gd name="T3" fmla="*/ 7 h 85"/>
              <a:gd name="T4" fmla="*/ 75 w 94"/>
              <a:gd name="T5" fmla="*/ 37 h 85"/>
              <a:gd name="T6" fmla="*/ 0 w 94"/>
              <a:gd name="T7" fmla="*/ 37 h 85"/>
              <a:gd name="T8" fmla="*/ 0 w 94"/>
              <a:gd name="T9" fmla="*/ 47 h 85"/>
              <a:gd name="T10" fmla="*/ 75 w 94"/>
              <a:gd name="T11" fmla="*/ 47 h 85"/>
              <a:gd name="T12" fmla="*/ 45 w 94"/>
              <a:gd name="T13" fmla="*/ 78 h 85"/>
              <a:gd name="T14" fmla="*/ 52 w 94"/>
              <a:gd name="T15" fmla="*/ 85 h 85"/>
              <a:gd name="T16" fmla="*/ 94 w 94"/>
              <a:gd name="T17" fmla="*/ 42 h 85"/>
              <a:gd name="T18" fmla="*/ 52 w 94"/>
              <a:gd name="T19"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85">
                <a:moveTo>
                  <a:pt x="52" y="0"/>
                </a:moveTo>
                <a:lnTo>
                  <a:pt x="45" y="7"/>
                </a:lnTo>
                <a:lnTo>
                  <a:pt x="75" y="37"/>
                </a:lnTo>
                <a:lnTo>
                  <a:pt x="0" y="37"/>
                </a:lnTo>
                <a:lnTo>
                  <a:pt x="0" y="47"/>
                </a:lnTo>
                <a:lnTo>
                  <a:pt x="75" y="47"/>
                </a:lnTo>
                <a:lnTo>
                  <a:pt x="45" y="78"/>
                </a:lnTo>
                <a:lnTo>
                  <a:pt x="52" y="85"/>
                </a:lnTo>
                <a:lnTo>
                  <a:pt x="94" y="42"/>
                </a:lnTo>
                <a:lnTo>
                  <a:pt x="52" y="0"/>
                </a:lnTo>
                <a:close/>
              </a:path>
            </a:pathLst>
          </a:custGeom>
          <a:noFill/>
          <a:ln w="9525">
            <a:solidFill>
              <a:schemeClr val="bg1"/>
            </a:solidFill>
            <a:round/>
            <a:headEnd/>
            <a:tailEnd/>
          </a:ln>
        </p:spPr>
        <p:txBody>
          <a:bodyPr vert="horz" wrap="square" lIns="80296" tIns="40148" rIns="80296" bIns="40148" numCol="1" anchor="t" anchorCtr="0" compatLnSpc="1">
            <a:prstTxWarp prst="textNoShape">
              <a:avLst/>
            </a:prstTxWarp>
          </a:bodyPr>
          <a:lstStyle/>
          <a:p>
            <a:pPr eaLnBrk="1" fontAlgn="auto" hangingPunct="1">
              <a:spcBef>
                <a:spcPts val="0"/>
              </a:spcBef>
              <a:spcAft>
                <a:spcPts val="0"/>
              </a:spcAft>
            </a:pPr>
            <a:endParaRPr kumimoji="0" lang="zh-CN" altLang="en-US" sz="1581">
              <a:solidFill>
                <a:prstClr val="black"/>
              </a:solidFill>
              <a:latin typeface="Calibri" panose="020F0502020204030204"/>
            </a:endParaRPr>
          </a:p>
        </p:txBody>
      </p:sp>
    </p:spTree>
    <p:extLst>
      <p:ext uri="{BB962C8B-B14F-4D97-AF65-F5344CB8AC3E}">
        <p14:creationId xmlns:p14="http://schemas.microsoft.com/office/powerpoint/2010/main" val="296245809"/>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 calcmode="lin" valueType="num">
                                      <p:cBhvr>
                                        <p:cTn id="10" dur="500" fill="hold"/>
                                        <p:tgtEl>
                                          <p:spTgt spid="9"/>
                                        </p:tgtEl>
                                        <p:attrNameLst>
                                          <p:attrName>ppt_w</p:attrName>
                                        </p:attrNameLst>
                                      </p:cBhvr>
                                      <p:tavLst>
                                        <p:tav tm="0">
                                          <p:val>
                                            <p:fltVal val="0"/>
                                          </p:val>
                                        </p:tav>
                                        <p:tav tm="100000">
                                          <p:val>
                                            <p:strVal val="#ppt_w"/>
                                          </p:val>
                                        </p:tav>
                                      </p:tavLst>
                                    </p:anim>
                                    <p:anim calcmode="lin" valueType="num">
                                      <p:cBhvr>
                                        <p:cTn id="11" dur="500" fill="hold"/>
                                        <p:tgtEl>
                                          <p:spTgt spid="9"/>
                                        </p:tgtEl>
                                        <p:attrNameLst>
                                          <p:attrName>ppt_h</p:attrName>
                                        </p:attrNameLst>
                                      </p:cBhvr>
                                      <p:tavLst>
                                        <p:tav tm="0">
                                          <p:val>
                                            <p:fltVal val="0"/>
                                          </p:val>
                                        </p:tav>
                                        <p:tav tm="100000">
                                          <p:val>
                                            <p:strVal val="#ppt_h"/>
                                          </p:val>
                                        </p:tav>
                                      </p:tavLst>
                                    </p:anim>
                                    <p:animEffect transition="in" filter="fade">
                                      <p:cBhvr>
                                        <p:cTn id="12" dur="500"/>
                                        <p:tgtEl>
                                          <p:spTgt spid="9"/>
                                        </p:tgtEl>
                                      </p:cBhvr>
                                    </p:animEffect>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down)">
                                      <p:cBhvr>
                                        <p:cTn id="16" dur="500"/>
                                        <p:tgtEl>
                                          <p:spTgt spid="10"/>
                                        </p:tgtEl>
                                      </p:cBhvr>
                                    </p:animEffect>
                                  </p:childTnLst>
                                </p:cTn>
                              </p:par>
                            </p:childTnLst>
                          </p:cTn>
                        </p:par>
                        <p:par>
                          <p:cTn id="17" fill="hold">
                            <p:stCondLst>
                              <p:cond delay="1000"/>
                            </p:stCondLst>
                            <p:childTnLst>
                              <p:par>
                                <p:cTn id="18" presetID="2" presetClass="entr" presetSubtype="1"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500" fill="hold"/>
                                        <p:tgtEl>
                                          <p:spTgt spid="11"/>
                                        </p:tgtEl>
                                        <p:attrNameLst>
                                          <p:attrName>ppt_x</p:attrName>
                                        </p:attrNameLst>
                                      </p:cBhvr>
                                      <p:tavLst>
                                        <p:tav tm="0">
                                          <p:val>
                                            <p:strVal val="#ppt_x"/>
                                          </p:val>
                                        </p:tav>
                                        <p:tav tm="100000">
                                          <p:val>
                                            <p:strVal val="#ppt_x"/>
                                          </p:val>
                                        </p:tav>
                                      </p:tavLst>
                                    </p:anim>
                                    <p:anim calcmode="lin" valueType="num">
                                      <p:cBhvr additive="base">
                                        <p:cTn id="21" dur="500" fill="hold"/>
                                        <p:tgtEl>
                                          <p:spTgt spid="1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p:cNvGrpSpPr/>
          <p:nvPr/>
        </p:nvGrpSpPr>
        <p:grpSpPr>
          <a:xfrm>
            <a:off x="1247860" y="2083267"/>
            <a:ext cx="3970627" cy="2436049"/>
            <a:chOff x="3689573" y="989327"/>
            <a:chExt cx="4812854" cy="2952770"/>
          </a:xfrm>
        </p:grpSpPr>
        <p:sp>
          <p:nvSpPr>
            <p:cNvPr id="5" name="等腰三角形 4"/>
            <p:cNvSpPr/>
            <p:nvPr/>
          </p:nvSpPr>
          <p:spPr>
            <a:xfrm flipV="1">
              <a:off x="4803235" y="1622349"/>
              <a:ext cx="2592733" cy="2235115"/>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等腰三角形 5"/>
            <p:cNvSpPr/>
            <p:nvPr/>
          </p:nvSpPr>
          <p:spPr>
            <a:xfrm flipH="1" flipV="1">
              <a:off x="3953546" y="2145444"/>
              <a:ext cx="1081670" cy="932474"/>
            </a:xfrm>
            <a:prstGeom prst="triangl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等腰三角形 6"/>
            <p:cNvSpPr/>
            <p:nvPr/>
          </p:nvSpPr>
          <p:spPr>
            <a:xfrm flipH="1">
              <a:off x="6205307" y="3127740"/>
              <a:ext cx="846479" cy="729724"/>
            </a:xfrm>
            <a:prstGeom prst="triangle">
              <a:avLst/>
            </a:prstGeom>
            <a:noFill/>
            <a:ln w="28575">
              <a:solidFill>
                <a:srgbClr val="E62D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p:nvSpPr>
          <p:spPr>
            <a:xfrm flipH="1">
              <a:off x="6906229" y="1270481"/>
              <a:ext cx="649574" cy="559977"/>
            </a:xfrm>
            <a:prstGeom prst="triangle">
              <a:avLst/>
            </a:prstGeom>
            <a:noFill/>
            <a:ln>
              <a:solidFill>
                <a:srgbClr val="E62D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p:nvSpPr>
          <p:spPr>
            <a:xfrm flipH="1">
              <a:off x="7276186" y="2042184"/>
              <a:ext cx="493530" cy="425456"/>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flipH="1">
              <a:off x="4394614" y="1477001"/>
              <a:ext cx="352219" cy="303636"/>
            </a:xfrm>
            <a:prstGeom prst="triangl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flipH="1">
              <a:off x="3689573" y="2373726"/>
              <a:ext cx="196350" cy="169268"/>
            </a:xfrm>
            <a:prstGeom prst="triangle">
              <a:avLst/>
            </a:prstGeom>
            <a:noFill/>
            <a:ln>
              <a:solidFill>
                <a:srgbClr val="E62D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p:nvSpPr>
          <p:spPr>
            <a:xfrm flipH="1" flipV="1">
              <a:off x="8207902" y="2467640"/>
              <a:ext cx="196350" cy="169268"/>
            </a:xfrm>
            <a:prstGeom prst="triangl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p:nvSpPr>
          <p:spPr>
            <a:xfrm flipH="1" flipV="1">
              <a:off x="4606885" y="3821453"/>
              <a:ext cx="139948" cy="120644"/>
            </a:xfrm>
            <a:prstGeom prst="triangle">
              <a:avLst/>
            </a:prstGeom>
            <a:noFill/>
            <a:ln>
              <a:solidFill>
                <a:srgbClr val="E62D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p:cNvSpPr/>
            <p:nvPr/>
          </p:nvSpPr>
          <p:spPr>
            <a:xfrm flipH="1">
              <a:off x="7802919" y="1279695"/>
              <a:ext cx="581091" cy="500941"/>
            </a:xfrm>
            <a:prstGeom prst="triangl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p:nvSpPr>
          <p:spPr>
            <a:xfrm flipH="1" flipV="1">
              <a:off x="8306077" y="989327"/>
              <a:ext cx="196350" cy="169268"/>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5244499" y="1884829"/>
              <a:ext cx="1921615" cy="1454936"/>
            </a:xfrm>
            <a:prstGeom prst="rect">
              <a:avLst/>
            </a:prstGeom>
            <a:noFill/>
          </p:spPr>
          <p:txBody>
            <a:bodyPr wrap="square" rtlCol="0">
              <a:spAutoFit/>
            </a:bodyPr>
            <a:lstStyle/>
            <a:p>
              <a:pPr algn="ctr"/>
              <a:r>
                <a:rPr lang="en-US" altLang="zh-CN" sz="3600" dirty="0">
                  <a:solidFill>
                    <a:schemeClr val="bg1"/>
                  </a:solidFill>
                  <a:latin typeface="张海山锐谐体" panose="02000000000000000000" pitchFamily="2" charset="-122"/>
                  <a:ea typeface="张海山锐谐体" panose="02000000000000000000" pitchFamily="2" charset="-122"/>
                </a:rPr>
                <a:t>CONTENTS</a:t>
              </a:r>
              <a:endParaRPr lang="zh-CN" altLang="en-US" sz="3600" dirty="0">
                <a:solidFill>
                  <a:schemeClr val="bg1"/>
                </a:solidFill>
                <a:latin typeface="张海山锐谐体" panose="02000000000000000000" pitchFamily="2" charset="-122"/>
                <a:ea typeface="张海山锐谐体" panose="02000000000000000000" pitchFamily="2" charset="-122"/>
              </a:endParaRPr>
            </a:p>
          </p:txBody>
        </p:sp>
        <p:sp>
          <p:nvSpPr>
            <p:cNvPr id="27" name="椭圆 26"/>
            <p:cNvSpPr/>
            <p:nvPr/>
          </p:nvSpPr>
          <p:spPr>
            <a:xfrm>
              <a:off x="4446795" y="3013161"/>
              <a:ext cx="99805" cy="9980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椭圆 27"/>
            <p:cNvSpPr/>
            <p:nvPr/>
          </p:nvSpPr>
          <p:spPr>
            <a:xfrm>
              <a:off x="6063685" y="3825090"/>
              <a:ext cx="64747" cy="6474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椭圆 28"/>
            <p:cNvSpPr/>
            <p:nvPr/>
          </p:nvSpPr>
          <p:spPr>
            <a:xfrm>
              <a:off x="8185042" y="2444780"/>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5" name="组合 24"/>
          <p:cNvGrpSpPr/>
          <p:nvPr/>
        </p:nvGrpSpPr>
        <p:grpSpPr>
          <a:xfrm>
            <a:off x="6404099" y="2005945"/>
            <a:ext cx="4068322" cy="461665"/>
            <a:chOff x="5266549" y="2352342"/>
            <a:chExt cx="4068322" cy="461665"/>
          </a:xfrm>
        </p:grpSpPr>
        <p:sp>
          <p:nvSpPr>
            <p:cNvPr id="16" name="文本框 15"/>
            <p:cNvSpPr txBox="1"/>
            <p:nvPr/>
          </p:nvSpPr>
          <p:spPr>
            <a:xfrm>
              <a:off x="6105055" y="2352342"/>
              <a:ext cx="3229816" cy="461665"/>
            </a:xfrm>
            <a:prstGeom prst="rect">
              <a:avLst/>
            </a:prstGeom>
            <a:noFill/>
          </p:spPr>
          <p:txBody>
            <a:bodyPr wrap="square" rtlCol="0">
              <a:spAutoFit/>
            </a:bodyPr>
            <a:lstStyle/>
            <a:p>
              <a:r>
                <a:rPr lang="zh-CN" altLang="en-US" sz="2400" dirty="0">
                  <a:solidFill>
                    <a:schemeClr val="bg1"/>
                  </a:solidFill>
                  <a:latin typeface="张海山锐谐体" panose="02000000000000000000" pitchFamily="2" charset="-122"/>
                  <a:ea typeface="张海山锐谐体" panose="02000000000000000000" pitchFamily="2" charset="-122"/>
                </a:rPr>
                <a:t>分布式数据库概述</a:t>
              </a:r>
              <a:r>
                <a:rPr lang="en-US" altLang="zh-CN" sz="1400" dirty="0">
                  <a:solidFill>
                    <a:schemeClr val="bg1"/>
                  </a:solidFill>
                  <a:latin typeface="张海山锐谐体" panose="02000000000000000000" pitchFamily="2" charset="-122"/>
                  <a:ea typeface="张海山锐谐体" panose="02000000000000000000" pitchFamily="2" charset="-122"/>
                </a:rPr>
                <a:t>  </a:t>
              </a:r>
              <a:endParaRPr lang="zh-CN" altLang="en-US" sz="2400" dirty="0">
                <a:solidFill>
                  <a:schemeClr val="bg1"/>
                </a:solidFill>
                <a:latin typeface="张海山锐谐体" panose="02000000000000000000" pitchFamily="2" charset="-122"/>
                <a:ea typeface="张海山锐谐体" panose="02000000000000000000" pitchFamily="2" charset="-122"/>
              </a:endParaRPr>
            </a:p>
          </p:txBody>
        </p:sp>
        <p:sp>
          <p:nvSpPr>
            <p:cNvPr id="32" name="文本框 31"/>
            <p:cNvSpPr txBox="1"/>
            <p:nvPr/>
          </p:nvSpPr>
          <p:spPr>
            <a:xfrm>
              <a:off x="5266549" y="2352342"/>
              <a:ext cx="703348" cy="461665"/>
            </a:xfrm>
            <a:prstGeom prst="rect">
              <a:avLst/>
            </a:prstGeom>
            <a:solidFill>
              <a:srgbClr val="E62D30"/>
            </a:solidFill>
          </p:spPr>
          <p:txBody>
            <a:bodyPr wrap="square" rtlCol="0">
              <a:spAutoFit/>
            </a:bodyPr>
            <a:lstStyle/>
            <a:p>
              <a:pPr algn="ctr"/>
              <a:r>
                <a:rPr lang="en-US" altLang="zh-CN" sz="2400" dirty="0">
                  <a:solidFill>
                    <a:schemeClr val="bg1"/>
                  </a:solidFill>
                  <a:latin typeface="张海山锐谐体" panose="02000000000000000000" pitchFamily="2" charset="-122"/>
                  <a:ea typeface="张海山锐谐体" panose="02000000000000000000" pitchFamily="2" charset="-122"/>
                </a:rPr>
                <a:t>01</a:t>
              </a:r>
              <a:endParaRPr lang="zh-CN" altLang="en-US" sz="2400" dirty="0">
                <a:solidFill>
                  <a:schemeClr val="bg1"/>
                </a:solidFill>
                <a:latin typeface="张海山锐谐体" panose="02000000000000000000" pitchFamily="2" charset="-122"/>
                <a:ea typeface="张海山锐谐体" panose="02000000000000000000" pitchFamily="2" charset="-122"/>
              </a:endParaRPr>
            </a:p>
          </p:txBody>
        </p:sp>
      </p:grpSp>
      <p:grpSp>
        <p:nvGrpSpPr>
          <p:cNvPr id="24" name="组合 23"/>
          <p:cNvGrpSpPr/>
          <p:nvPr/>
        </p:nvGrpSpPr>
        <p:grpSpPr>
          <a:xfrm>
            <a:off x="6404099" y="3726911"/>
            <a:ext cx="5399282" cy="461665"/>
            <a:chOff x="5266549" y="3089752"/>
            <a:chExt cx="5399282" cy="461665"/>
          </a:xfrm>
        </p:grpSpPr>
        <p:sp>
          <p:nvSpPr>
            <p:cNvPr id="17" name="文本框 16"/>
            <p:cNvSpPr txBox="1"/>
            <p:nvPr/>
          </p:nvSpPr>
          <p:spPr>
            <a:xfrm>
              <a:off x="5266549" y="3089752"/>
              <a:ext cx="703348" cy="461665"/>
            </a:xfrm>
            <a:prstGeom prst="rect">
              <a:avLst/>
            </a:prstGeom>
            <a:solidFill>
              <a:srgbClr val="E62D30"/>
            </a:solidFill>
          </p:spPr>
          <p:txBody>
            <a:bodyPr wrap="square" rtlCol="0">
              <a:spAutoFit/>
            </a:bodyPr>
            <a:lstStyle/>
            <a:p>
              <a:pPr algn="ctr"/>
              <a:r>
                <a:rPr lang="en-US" altLang="zh-CN" sz="2400" dirty="0">
                  <a:solidFill>
                    <a:schemeClr val="bg1"/>
                  </a:solidFill>
                  <a:latin typeface="张海山锐谐体" panose="02000000000000000000" pitchFamily="2" charset="-122"/>
                  <a:ea typeface="张海山锐谐体" panose="02000000000000000000" pitchFamily="2" charset="-122"/>
                </a:rPr>
                <a:t>03</a:t>
              </a:r>
              <a:endParaRPr lang="zh-CN" altLang="en-US" sz="1400" dirty="0">
                <a:solidFill>
                  <a:schemeClr val="bg1"/>
                </a:solidFill>
                <a:latin typeface="张海山锐谐体" panose="02000000000000000000" pitchFamily="2" charset="-122"/>
                <a:ea typeface="张海山锐谐体" panose="02000000000000000000" pitchFamily="2" charset="-122"/>
              </a:endParaRPr>
            </a:p>
          </p:txBody>
        </p:sp>
        <p:sp>
          <p:nvSpPr>
            <p:cNvPr id="34" name="文本框 33"/>
            <p:cNvSpPr txBox="1"/>
            <p:nvPr/>
          </p:nvSpPr>
          <p:spPr>
            <a:xfrm>
              <a:off x="6105055" y="3089752"/>
              <a:ext cx="4560776" cy="461665"/>
            </a:xfrm>
            <a:prstGeom prst="rect">
              <a:avLst/>
            </a:prstGeom>
            <a:noFill/>
          </p:spPr>
          <p:txBody>
            <a:bodyPr wrap="square" rtlCol="0">
              <a:spAutoFit/>
            </a:bodyPr>
            <a:lstStyle/>
            <a:p>
              <a:r>
                <a:rPr lang="en-US" altLang="zh-CN" sz="2400" dirty="0">
                  <a:solidFill>
                    <a:schemeClr val="bg1"/>
                  </a:solidFill>
                  <a:latin typeface="张海山锐谐体" panose="02000000000000000000" pitchFamily="2" charset="-122"/>
                  <a:ea typeface="张海山锐谐体" panose="02000000000000000000" pitchFamily="2" charset="-122"/>
                </a:rPr>
                <a:t>Redis </a:t>
              </a:r>
              <a:r>
                <a:rPr lang="zh-CN" altLang="en-US" sz="2400" dirty="0">
                  <a:solidFill>
                    <a:schemeClr val="bg1"/>
                  </a:solidFill>
                  <a:latin typeface="张海山锐谐体" panose="02000000000000000000" pitchFamily="2" charset="-122"/>
                  <a:ea typeface="张海山锐谐体" panose="02000000000000000000" pitchFamily="2" charset="-122"/>
                </a:rPr>
                <a:t>的分布式部署与集群模式</a:t>
              </a:r>
              <a:endParaRPr lang="zh-CN" altLang="en-US" sz="1400" dirty="0">
                <a:solidFill>
                  <a:schemeClr val="bg1"/>
                </a:solidFill>
                <a:latin typeface="张海山锐谐体" panose="02000000000000000000" pitchFamily="2" charset="-122"/>
                <a:ea typeface="张海山锐谐体" panose="02000000000000000000" pitchFamily="2" charset="-122"/>
              </a:endParaRPr>
            </a:p>
          </p:txBody>
        </p:sp>
      </p:grpSp>
      <p:grpSp>
        <p:nvGrpSpPr>
          <p:cNvPr id="26" name="组合 25"/>
          <p:cNvGrpSpPr/>
          <p:nvPr/>
        </p:nvGrpSpPr>
        <p:grpSpPr>
          <a:xfrm>
            <a:off x="6404099" y="2866428"/>
            <a:ext cx="5617572" cy="461665"/>
            <a:chOff x="10706819" y="2352342"/>
            <a:chExt cx="5617572" cy="461665"/>
          </a:xfrm>
        </p:grpSpPr>
        <p:sp>
          <p:nvSpPr>
            <p:cNvPr id="18" name="文本框 17"/>
            <p:cNvSpPr txBox="1"/>
            <p:nvPr/>
          </p:nvSpPr>
          <p:spPr>
            <a:xfrm>
              <a:off x="10706819" y="2352342"/>
              <a:ext cx="721758" cy="461665"/>
            </a:xfrm>
            <a:prstGeom prst="rect">
              <a:avLst/>
            </a:prstGeom>
            <a:solidFill>
              <a:srgbClr val="E62D30"/>
            </a:solidFill>
          </p:spPr>
          <p:txBody>
            <a:bodyPr wrap="square" rtlCol="0">
              <a:spAutoFit/>
            </a:bodyPr>
            <a:lstStyle/>
            <a:p>
              <a:pPr algn="ctr"/>
              <a:r>
                <a:rPr lang="en-US" altLang="zh-CN" sz="2400" dirty="0">
                  <a:solidFill>
                    <a:schemeClr val="bg1"/>
                  </a:solidFill>
                  <a:latin typeface="张海山锐谐体" panose="02000000000000000000" pitchFamily="2" charset="-122"/>
                  <a:ea typeface="张海山锐谐体" panose="02000000000000000000" pitchFamily="2" charset="-122"/>
                </a:rPr>
                <a:t>02</a:t>
              </a:r>
              <a:endParaRPr lang="zh-CN" altLang="en-US" sz="2400" dirty="0">
                <a:solidFill>
                  <a:schemeClr val="bg1"/>
                </a:solidFill>
                <a:latin typeface="张海山锐谐体" panose="02000000000000000000" pitchFamily="2" charset="-122"/>
                <a:ea typeface="张海山锐谐体" panose="02000000000000000000" pitchFamily="2" charset="-122"/>
              </a:endParaRPr>
            </a:p>
          </p:txBody>
        </p:sp>
        <p:sp>
          <p:nvSpPr>
            <p:cNvPr id="35" name="文本框 34"/>
            <p:cNvSpPr txBox="1"/>
            <p:nvPr/>
          </p:nvSpPr>
          <p:spPr>
            <a:xfrm>
              <a:off x="11550497" y="2352342"/>
              <a:ext cx="4773894" cy="461665"/>
            </a:xfrm>
            <a:prstGeom prst="rect">
              <a:avLst/>
            </a:prstGeom>
            <a:noFill/>
          </p:spPr>
          <p:txBody>
            <a:bodyPr wrap="square" rtlCol="0">
              <a:spAutoFit/>
            </a:bodyPr>
            <a:lstStyle/>
            <a:p>
              <a:r>
                <a:rPr lang="en-US" altLang="zh-CN" sz="2400" dirty="0">
                  <a:solidFill>
                    <a:schemeClr val="bg1"/>
                  </a:solidFill>
                  <a:latin typeface="张海山锐谐体" panose="02000000000000000000" pitchFamily="2" charset="-122"/>
                  <a:ea typeface="张海山锐谐体" panose="02000000000000000000" pitchFamily="2" charset="-122"/>
                </a:rPr>
                <a:t>MySQL </a:t>
              </a:r>
              <a:r>
                <a:rPr lang="zh-CN" altLang="en-US" sz="2400" dirty="0">
                  <a:solidFill>
                    <a:schemeClr val="bg1"/>
                  </a:solidFill>
                  <a:latin typeface="张海山锐谐体" panose="02000000000000000000" pitchFamily="2" charset="-122"/>
                  <a:ea typeface="张海山锐谐体" panose="02000000000000000000" pitchFamily="2" charset="-122"/>
                </a:rPr>
                <a:t>的分布式部署与架构设计</a:t>
              </a:r>
            </a:p>
          </p:txBody>
        </p:sp>
      </p:grpSp>
      <p:grpSp>
        <p:nvGrpSpPr>
          <p:cNvPr id="30" name="组合 29"/>
          <p:cNvGrpSpPr/>
          <p:nvPr/>
        </p:nvGrpSpPr>
        <p:grpSpPr>
          <a:xfrm>
            <a:off x="6404099" y="4587395"/>
            <a:ext cx="5617572" cy="461665"/>
            <a:chOff x="10706819" y="3089752"/>
            <a:chExt cx="5617572" cy="461665"/>
          </a:xfrm>
        </p:grpSpPr>
        <p:sp>
          <p:nvSpPr>
            <p:cNvPr id="19" name="文本框 18"/>
            <p:cNvSpPr txBox="1"/>
            <p:nvPr/>
          </p:nvSpPr>
          <p:spPr>
            <a:xfrm>
              <a:off x="10706819" y="3089752"/>
              <a:ext cx="721758" cy="461665"/>
            </a:xfrm>
            <a:prstGeom prst="rect">
              <a:avLst/>
            </a:prstGeom>
            <a:solidFill>
              <a:srgbClr val="E62D30"/>
            </a:solidFill>
          </p:spPr>
          <p:txBody>
            <a:bodyPr wrap="square" rtlCol="0">
              <a:spAutoFit/>
            </a:bodyPr>
            <a:lstStyle/>
            <a:p>
              <a:pPr algn="ctr"/>
              <a:r>
                <a:rPr lang="en-US" altLang="zh-CN" sz="2400" dirty="0">
                  <a:solidFill>
                    <a:schemeClr val="bg1"/>
                  </a:solidFill>
                  <a:latin typeface="张海山锐谐体" panose="02000000000000000000" pitchFamily="2" charset="-122"/>
                  <a:ea typeface="张海山锐谐体" panose="02000000000000000000" pitchFamily="2" charset="-122"/>
                </a:rPr>
                <a:t>04</a:t>
              </a:r>
              <a:r>
                <a:rPr lang="en-US" altLang="zh-CN" sz="1400" dirty="0">
                  <a:solidFill>
                    <a:schemeClr val="bg1"/>
                  </a:solidFill>
                  <a:latin typeface="张海山锐谐体" panose="02000000000000000000" pitchFamily="2" charset="-122"/>
                  <a:ea typeface="张海山锐谐体" panose="02000000000000000000" pitchFamily="2" charset="-122"/>
                </a:rPr>
                <a:t> </a:t>
              </a:r>
              <a:endParaRPr lang="zh-CN" altLang="en-US" sz="1400" dirty="0">
                <a:solidFill>
                  <a:schemeClr val="bg1"/>
                </a:solidFill>
                <a:latin typeface="张海山锐谐体" panose="02000000000000000000" pitchFamily="2" charset="-122"/>
                <a:ea typeface="张海山锐谐体" panose="02000000000000000000" pitchFamily="2" charset="-122"/>
              </a:endParaRPr>
            </a:p>
          </p:txBody>
        </p:sp>
        <p:sp>
          <p:nvSpPr>
            <p:cNvPr id="36" name="文本框 35"/>
            <p:cNvSpPr txBox="1"/>
            <p:nvPr/>
          </p:nvSpPr>
          <p:spPr>
            <a:xfrm>
              <a:off x="11550497" y="3089752"/>
              <a:ext cx="4773894" cy="461665"/>
            </a:xfrm>
            <a:prstGeom prst="rect">
              <a:avLst/>
            </a:prstGeom>
            <a:noFill/>
          </p:spPr>
          <p:txBody>
            <a:bodyPr wrap="square" rtlCol="0">
              <a:spAutoFit/>
            </a:bodyPr>
            <a:lstStyle/>
            <a:p>
              <a:r>
                <a:rPr lang="zh-CN" altLang="en-US" sz="2400" dirty="0">
                  <a:solidFill>
                    <a:schemeClr val="bg1"/>
                  </a:solidFill>
                  <a:latin typeface="张海山锐谐体" panose="02000000000000000000" pitchFamily="2" charset="-122"/>
                  <a:ea typeface="张海山锐谐体" panose="02000000000000000000" pitchFamily="2" charset="-122"/>
                </a:rPr>
                <a:t>分布式系统中的综合应用</a:t>
              </a:r>
              <a:endParaRPr lang="zh-CN" altLang="en-US" sz="1400" dirty="0">
                <a:solidFill>
                  <a:schemeClr val="bg1"/>
                </a:solidFill>
                <a:latin typeface="张海山锐谐体" panose="02000000000000000000" pitchFamily="2" charset="-122"/>
                <a:ea typeface="张海山锐谐体" panose="02000000000000000000" pitchFamily="2" charset="-122"/>
              </a:endParaRPr>
            </a:p>
          </p:txBody>
        </p:sp>
      </p:grpSp>
    </p:spTree>
    <p:extLst>
      <p:ext uri="{BB962C8B-B14F-4D97-AF65-F5344CB8AC3E}">
        <p14:creationId xmlns:p14="http://schemas.microsoft.com/office/powerpoint/2010/main" val="55081523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1+#ppt_w/2"/>
                                          </p:val>
                                        </p:tav>
                                        <p:tav tm="100000">
                                          <p:val>
                                            <p:strVal val="#ppt_x"/>
                                          </p:val>
                                        </p:tav>
                                      </p:tavLst>
                                    </p:anim>
                                    <p:anim calcmode="lin" valueType="num">
                                      <p:cBhvr additive="base">
                                        <p:cTn id="8" dur="500" fill="hold"/>
                                        <p:tgtEl>
                                          <p:spTgt spid="2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26"/>
                                        </p:tgtEl>
                                        <p:attrNameLst>
                                          <p:attrName>style.visibility</p:attrName>
                                        </p:attrNameLst>
                                      </p:cBhvr>
                                      <p:to>
                                        <p:strVal val="visible"/>
                                      </p:to>
                                    </p:set>
                                    <p:anim calcmode="lin" valueType="num">
                                      <p:cBhvr additive="base">
                                        <p:cTn id="12" dur="500" fill="hold"/>
                                        <p:tgtEl>
                                          <p:spTgt spid="26"/>
                                        </p:tgtEl>
                                        <p:attrNameLst>
                                          <p:attrName>ppt_x</p:attrName>
                                        </p:attrNameLst>
                                      </p:cBhvr>
                                      <p:tavLst>
                                        <p:tav tm="0">
                                          <p:val>
                                            <p:strVal val="1+#ppt_w/2"/>
                                          </p:val>
                                        </p:tav>
                                        <p:tav tm="100000">
                                          <p:val>
                                            <p:strVal val="#ppt_x"/>
                                          </p:val>
                                        </p:tav>
                                      </p:tavLst>
                                    </p:anim>
                                    <p:anim calcmode="lin" valueType="num">
                                      <p:cBhvr additive="base">
                                        <p:cTn id="13" dur="500" fill="hold"/>
                                        <p:tgtEl>
                                          <p:spTgt spid="26"/>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nodeType="afterEffect">
                                  <p:stCondLst>
                                    <p:cond delay="0"/>
                                  </p:stCondLst>
                                  <p:childTnLst>
                                    <p:set>
                                      <p:cBhvr>
                                        <p:cTn id="16" dur="1" fill="hold">
                                          <p:stCondLst>
                                            <p:cond delay="0"/>
                                          </p:stCondLst>
                                        </p:cTn>
                                        <p:tgtEl>
                                          <p:spTgt spid="24"/>
                                        </p:tgtEl>
                                        <p:attrNameLst>
                                          <p:attrName>style.visibility</p:attrName>
                                        </p:attrNameLst>
                                      </p:cBhvr>
                                      <p:to>
                                        <p:strVal val="visible"/>
                                      </p:to>
                                    </p:set>
                                    <p:anim calcmode="lin" valueType="num">
                                      <p:cBhvr additive="base">
                                        <p:cTn id="17" dur="500" fill="hold"/>
                                        <p:tgtEl>
                                          <p:spTgt spid="24"/>
                                        </p:tgtEl>
                                        <p:attrNameLst>
                                          <p:attrName>ppt_x</p:attrName>
                                        </p:attrNameLst>
                                      </p:cBhvr>
                                      <p:tavLst>
                                        <p:tav tm="0">
                                          <p:val>
                                            <p:strVal val="1+#ppt_w/2"/>
                                          </p:val>
                                        </p:tav>
                                        <p:tav tm="100000">
                                          <p:val>
                                            <p:strVal val="#ppt_x"/>
                                          </p:val>
                                        </p:tav>
                                      </p:tavLst>
                                    </p:anim>
                                    <p:anim calcmode="lin" valueType="num">
                                      <p:cBhvr additive="base">
                                        <p:cTn id="18" dur="500" fill="hold"/>
                                        <p:tgtEl>
                                          <p:spTgt spid="24"/>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nodeType="afterEffect">
                                  <p:stCondLst>
                                    <p:cond delay="0"/>
                                  </p:stCondLst>
                                  <p:childTnLst>
                                    <p:set>
                                      <p:cBhvr>
                                        <p:cTn id="21" dur="1" fill="hold">
                                          <p:stCondLst>
                                            <p:cond delay="0"/>
                                          </p:stCondLst>
                                        </p:cTn>
                                        <p:tgtEl>
                                          <p:spTgt spid="30"/>
                                        </p:tgtEl>
                                        <p:attrNameLst>
                                          <p:attrName>style.visibility</p:attrName>
                                        </p:attrNameLst>
                                      </p:cBhvr>
                                      <p:to>
                                        <p:strVal val="visible"/>
                                      </p:to>
                                    </p:set>
                                    <p:anim calcmode="lin" valueType="num">
                                      <p:cBhvr additive="base">
                                        <p:cTn id="22" dur="500" fill="hold"/>
                                        <p:tgtEl>
                                          <p:spTgt spid="30"/>
                                        </p:tgtEl>
                                        <p:attrNameLst>
                                          <p:attrName>ppt_x</p:attrName>
                                        </p:attrNameLst>
                                      </p:cBhvr>
                                      <p:tavLst>
                                        <p:tav tm="0">
                                          <p:val>
                                            <p:strVal val="1+#ppt_w/2"/>
                                          </p:val>
                                        </p:tav>
                                        <p:tav tm="100000">
                                          <p:val>
                                            <p:strVal val="#ppt_x"/>
                                          </p:val>
                                        </p:tav>
                                      </p:tavLst>
                                    </p:anim>
                                    <p:anim calcmode="lin" valueType="num">
                                      <p:cBhvr additive="base">
                                        <p:cTn id="23"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14239" y="1863220"/>
            <a:ext cx="2496342" cy="3154710"/>
          </a:xfrm>
          <a:prstGeom prst="rect">
            <a:avLst/>
          </a:prstGeom>
          <a:noFill/>
        </p:spPr>
        <p:txBody>
          <a:bodyPr wrap="square" rtlCol="0">
            <a:spAutoFit/>
          </a:bodyPr>
          <a:lstStyle/>
          <a:p>
            <a:pPr algn="ctr"/>
            <a:r>
              <a:rPr lang="en-US" altLang="zh-CN" sz="19900" dirty="0">
                <a:solidFill>
                  <a:schemeClr val="bg1"/>
                </a:solidFill>
                <a:latin typeface="张海山锐谐体" panose="02000000000000000000" pitchFamily="2" charset="-122"/>
                <a:ea typeface="张海山锐谐体" panose="02000000000000000000" pitchFamily="2" charset="-122"/>
              </a:rPr>
              <a:t>1</a:t>
            </a:r>
            <a:endParaRPr lang="zh-CN" altLang="en-US" sz="19900" dirty="0">
              <a:solidFill>
                <a:schemeClr val="bg1"/>
              </a:solidFill>
              <a:latin typeface="张海山锐谐体" panose="02000000000000000000" pitchFamily="2" charset="-122"/>
              <a:ea typeface="张海山锐谐体" panose="02000000000000000000" pitchFamily="2" charset="-122"/>
            </a:endParaRPr>
          </a:p>
        </p:txBody>
      </p:sp>
      <p:sp>
        <p:nvSpPr>
          <p:cNvPr id="15" name="文本框 14"/>
          <p:cNvSpPr txBox="1"/>
          <p:nvPr/>
        </p:nvSpPr>
        <p:spPr>
          <a:xfrm>
            <a:off x="5815072" y="1429775"/>
            <a:ext cx="5200650" cy="584775"/>
          </a:xfrm>
          <a:prstGeom prst="rect">
            <a:avLst/>
          </a:prstGeom>
          <a:noFill/>
        </p:spPr>
        <p:txBody>
          <a:bodyPr wrap="square" rtlCol="0">
            <a:spAutoFit/>
          </a:bodyPr>
          <a:lstStyle/>
          <a:p>
            <a:r>
              <a:rPr lang="zh-CN" altLang="en-US" sz="3200" dirty="0">
                <a:solidFill>
                  <a:schemeClr val="bg1"/>
                </a:solidFill>
                <a:latin typeface="张海山锐谐体" panose="02000000000000000000" pitchFamily="2" charset="-122"/>
                <a:ea typeface="张海山锐谐体" panose="02000000000000000000" pitchFamily="2" charset="-122"/>
              </a:rPr>
              <a:t>分布式数据库概述</a:t>
            </a:r>
            <a:endParaRPr lang="zh-CN" altLang="en-US" sz="3200" b="1" dirty="0"/>
          </a:p>
        </p:txBody>
      </p:sp>
      <p:sp>
        <p:nvSpPr>
          <p:cNvPr id="16" name="文本框 15"/>
          <p:cNvSpPr txBox="1"/>
          <p:nvPr/>
        </p:nvSpPr>
        <p:spPr>
          <a:xfrm>
            <a:off x="4622505" y="2618413"/>
            <a:ext cx="6313188" cy="258532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bg1"/>
                </a:solidFill>
              </a:rPr>
              <a:t>分布式数据库指的是数据分布在多个物理节点上，这些节点通过网络相连，共同组成一个数据库系统。用户可以像操作单一数据库一样访问和管理这些分布在不同节点上的数据，而不必关心数据的实际存储位置。</a:t>
            </a:r>
            <a:endParaRPr lang="en-US" altLang="zh-CN" dirty="0">
              <a:solidFill>
                <a:schemeClr val="bg1"/>
              </a:solidFill>
            </a:endParaRPr>
          </a:p>
          <a:p>
            <a:endParaRPr lang="en-US" altLang="zh-CN" dirty="0">
              <a:solidFill>
                <a:schemeClr val="bg1"/>
              </a:solidFill>
            </a:endParaRPr>
          </a:p>
          <a:p>
            <a:r>
              <a:rPr lang="en-US" altLang="zh-CN" b="1" dirty="0">
                <a:solidFill>
                  <a:schemeClr val="bg1"/>
                </a:solidFill>
                <a:cs typeface="+mn-ea"/>
                <a:sym typeface="+mn-lt"/>
              </a:rPr>
              <a:t>MySQL</a:t>
            </a:r>
            <a:r>
              <a:rPr lang="zh-CN" altLang="en-US" b="1" dirty="0">
                <a:solidFill>
                  <a:schemeClr val="bg1"/>
                </a:solidFill>
                <a:cs typeface="+mn-ea"/>
                <a:sym typeface="+mn-lt"/>
              </a:rPr>
              <a:t>：通过主从复制、分库分表、</a:t>
            </a:r>
            <a:r>
              <a:rPr lang="en-US" altLang="zh-CN" b="1" dirty="0">
                <a:solidFill>
                  <a:schemeClr val="bg1"/>
                </a:solidFill>
                <a:cs typeface="+mn-ea"/>
                <a:sym typeface="+mn-lt"/>
              </a:rPr>
              <a:t>Galera Cluster </a:t>
            </a:r>
            <a:r>
              <a:rPr lang="zh-CN" altLang="en-US" b="1" dirty="0">
                <a:solidFill>
                  <a:schemeClr val="bg1"/>
                </a:solidFill>
                <a:cs typeface="+mn-ea"/>
                <a:sym typeface="+mn-lt"/>
              </a:rPr>
              <a:t>实现分布式部署。</a:t>
            </a:r>
            <a:endParaRPr lang="en-US" altLang="zh-CN" b="1" dirty="0">
              <a:solidFill>
                <a:schemeClr val="bg1"/>
              </a:solidFill>
              <a:cs typeface="+mn-ea"/>
              <a:sym typeface="+mn-lt"/>
            </a:endParaRPr>
          </a:p>
          <a:p>
            <a:r>
              <a:rPr lang="en-US" altLang="zh-CN" b="1" dirty="0">
                <a:solidFill>
                  <a:schemeClr val="bg1"/>
                </a:solidFill>
                <a:cs typeface="+mn-ea"/>
                <a:sym typeface="+mn-lt"/>
              </a:rPr>
              <a:t>Redis</a:t>
            </a:r>
            <a:r>
              <a:rPr lang="zh-CN" altLang="en-US" b="1" dirty="0">
                <a:solidFill>
                  <a:schemeClr val="bg1"/>
                </a:solidFill>
                <a:cs typeface="+mn-ea"/>
                <a:sym typeface="+mn-lt"/>
              </a:rPr>
              <a:t>：</a:t>
            </a:r>
            <a:r>
              <a:rPr lang="en-US" altLang="zh-CN" b="1" dirty="0">
                <a:solidFill>
                  <a:schemeClr val="bg1"/>
                </a:solidFill>
                <a:cs typeface="+mn-ea"/>
                <a:sym typeface="+mn-lt"/>
              </a:rPr>
              <a:t>Redis Cluster </a:t>
            </a:r>
            <a:r>
              <a:rPr lang="zh-CN" altLang="en-US" b="1" dirty="0">
                <a:solidFill>
                  <a:schemeClr val="bg1"/>
                </a:solidFill>
                <a:cs typeface="+mn-ea"/>
                <a:sym typeface="+mn-lt"/>
              </a:rPr>
              <a:t>和哨兵模式支持分布式部署，主要用于缓存和高并发场景。</a:t>
            </a:r>
            <a:endParaRPr lang="en-US" altLang="zh-CN" b="1" dirty="0">
              <a:solidFill>
                <a:schemeClr val="bg1"/>
              </a:solidFill>
              <a:cs typeface="+mn-ea"/>
              <a:sym typeface="+mn-lt"/>
            </a:endParaRPr>
          </a:p>
        </p:txBody>
      </p:sp>
      <p:grpSp>
        <p:nvGrpSpPr>
          <p:cNvPr id="2" name="组合 1"/>
          <p:cNvGrpSpPr/>
          <p:nvPr/>
        </p:nvGrpSpPr>
        <p:grpSpPr>
          <a:xfrm>
            <a:off x="-1127760" y="-868383"/>
            <a:ext cx="5273039" cy="8594767"/>
            <a:chOff x="-1127760" y="-868383"/>
            <a:chExt cx="5273039" cy="8594767"/>
          </a:xfrm>
        </p:grpSpPr>
        <p:sp>
          <p:nvSpPr>
            <p:cNvPr id="3" name="等腰三角形 2"/>
            <p:cNvSpPr/>
            <p:nvPr/>
          </p:nvSpPr>
          <p:spPr>
            <a:xfrm rot="16200000" flipV="1">
              <a:off x="-316629" y="1426842"/>
              <a:ext cx="4630086" cy="3991456"/>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p:cNvSpPr/>
            <p:nvPr/>
          </p:nvSpPr>
          <p:spPr>
            <a:xfrm rot="16200000" flipH="1" flipV="1">
              <a:off x="803610" y="5456558"/>
              <a:ext cx="1931640" cy="1665208"/>
            </a:xfrm>
            <a:prstGeom prst="triangl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等腰三角形 4"/>
            <p:cNvSpPr/>
            <p:nvPr/>
          </p:nvSpPr>
          <p:spPr>
            <a:xfrm rot="16200000" flipH="1">
              <a:off x="2586755" y="1826415"/>
              <a:ext cx="1511638" cy="1303136"/>
            </a:xfrm>
            <a:prstGeom prst="triangl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等腰三角形 5"/>
            <p:cNvSpPr/>
            <p:nvPr/>
          </p:nvSpPr>
          <p:spPr>
            <a:xfrm rot="16200000" flipH="1">
              <a:off x="-705677" y="902094"/>
              <a:ext cx="1160005" cy="1000004"/>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p:nvSpPr>
          <p:spPr>
            <a:xfrm rot="16200000" flipH="1">
              <a:off x="691643" y="500873"/>
              <a:ext cx="881342" cy="759777"/>
            </a:xfrm>
            <a:prstGeom prst="triangle">
              <a:avLst/>
            </a:prstGeom>
            <a:noFill/>
            <a:ln w="28575">
              <a:solidFill>
                <a:srgbClr val="E62D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p:nvSpPr>
          <p:spPr>
            <a:xfrm rot="16200000" flipH="1">
              <a:off x="-300255" y="5881715"/>
              <a:ext cx="628989" cy="542232"/>
            </a:xfrm>
            <a:prstGeom prst="triangle">
              <a:avLst/>
            </a:prstGeom>
            <a:noFill/>
            <a:ln>
              <a:solidFill>
                <a:srgbClr val="E62D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p:nvSpPr>
          <p:spPr>
            <a:xfrm rot="16200000" flipH="1">
              <a:off x="1320310" y="7399925"/>
              <a:ext cx="350641" cy="302277"/>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rot="16200000" flipH="1" flipV="1">
              <a:off x="1488021" y="-668880"/>
              <a:ext cx="350641" cy="302277"/>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rot="16200000" flipH="1" flipV="1">
              <a:off x="3912597" y="5855572"/>
              <a:ext cx="249918" cy="215446"/>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p:nvSpPr>
          <p:spPr>
            <a:xfrm rot="16200000" flipH="1">
              <a:off x="-680788" y="-585350"/>
              <a:ext cx="1037711" cy="894578"/>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p:nvSpPr>
          <p:spPr>
            <a:xfrm rot="16200000" flipH="1" flipV="1">
              <a:off x="-1151942" y="-844201"/>
              <a:ext cx="350641" cy="302277"/>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3955794" y="3372667"/>
              <a:ext cx="99805" cy="99805"/>
            </a:xfrm>
            <a:prstGeom prst="ellipse">
              <a:avLst/>
            </a:prstGeom>
            <a:solidFill>
              <a:srgbClr val="E62D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2629550" y="2428079"/>
              <a:ext cx="99805" cy="9980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882989" y="5273439"/>
              <a:ext cx="99805" cy="9980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9994560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27128" y="1987923"/>
            <a:ext cx="9266575" cy="4011613"/>
            <a:chOff x="0" y="3968562"/>
            <a:chExt cx="24377650" cy="7929751"/>
          </a:xfrm>
          <a:solidFill>
            <a:srgbClr val="FB5F5F"/>
          </a:solidFill>
        </p:grpSpPr>
        <p:sp>
          <p:nvSpPr>
            <p:cNvPr id="3" name="Freeform 5"/>
            <p:cNvSpPr>
              <a:spLocks/>
            </p:cNvSpPr>
            <p:nvPr userDrawn="1"/>
          </p:nvSpPr>
          <p:spPr bwMode="auto">
            <a:xfrm>
              <a:off x="1132096" y="4202089"/>
              <a:ext cx="5442185" cy="5812782"/>
            </a:xfrm>
            <a:custGeom>
              <a:avLst/>
              <a:gdLst>
                <a:gd name="T0" fmla="*/ 1758 w 2144"/>
                <a:gd name="T1" fmla="*/ 178 h 2290"/>
                <a:gd name="T2" fmla="*/ 1650 w 2144"/>
                <a:gd name="T3" fmla="*/ 114 h 2290"/>
                <a:gd name="T4" fmla="*/ 1532 w 2144"/>
                <a:gd name="T5" fmla="*/ 64 h 2290"/>
                <a:gd name="T6" fmla="*/ 1402 w 2144"/>
                <a:gd name="T7" fmla="*/ 28 h 2290"/>
                <a:gd name="T8" fmla="*/ 1262 w 2144"/>
                <a:gd name="T9" fmla="*/ 6 h 2290"/>
                <a:gd name="T10" fmla="*/ 1108 w 2144"/>
                <a:gd name="T11" fmla="*/ 0 h 2290"/>
                <a:gd name="T12" fmla="*/ 976 w 2144"/>
                <a:gd name="T13" fmla="*/ 4 h 2290"/>
                <a:gd name="T14" fmla="*/ 796 w 2144"/>
                <a:gd name="T15" fmla="*/ 28 h 2290"/>
                <a:gd name="T16" fmla="*/ 636 w 2144"/>
                <a:gd name="T17" fmla="*/ 72 h 2290"/>
                <a:gd name="T18" fmla="*/ 494 w 2144"/>
                <a:gd name="T19" fmla="*/ 138 h 2290"/>
                <a:gd name="T20" fmla="*/ 372 w 2144"/>
                <a:gd name="T21" fmla="*/ 222 h 2290"/>
                <a:gd name="T22" fmla="*/ 302 w 2144"/>
                <a:gd name="T23" fmla="*/ 292 h 2290"/>
                <a:gd name="T24" fmla="*/ 212 w 2144"/>
                <a:gd name="T25" fmla="*/ 406 h 2290"/>
                <a:gd name="T26" fmla="*/ 136 w 2144"/>
                <a:gd name="T27" fmla="*/ 536 h 2290"/>
                <a:gd name="T28" fmla="*/ 78 w 2144"/>
                <a:gd name="T29" fmla="*/ 678 h 2290"/>
                <a:gd name="T30" fmla="*/ 34 w 2144"/>
                <a:gd name="T31" fmla="*/ 832 h 2290"/>
                <a:gd name="T32" fmla="*/ 6 w 2144"/>
                <a:gd name="T33" fmla="*/ 1000 h 2290"/>
                <a:gd name="T34" fmla="*/ 754 w 2144"/>
                <a:gd name="T35" fmla="*/ 1168 h 2290"/>
                <a:gd name="T36" fmla="*/ 782 w 2144"/>
                <a:gd name="T37" fmla="*/ 994 h 2290"/>
                <a:gd name="T38" fmla="*/ 828 w 2144"/>
                <a:gd name="T39" fmla="*/ 864 h 2290"/>
                <a:gd name="T40" fmla="*/ 868 w 2144"/>
                <a:gd name="T41" fmla="*/ 802 h 2290"/>
                <a:gd name="T42" fmla="*/ 944 w 2144"/>
                <a:gd name="T43" fmla="*/ 738 h 2290"/>
                <a:gd name="T44" fmla="*/ 1030 w 2144"/>
                <a:gd name="T45" fmla="*/ 702 h 2290"/>
                <a:gd name="T46" fmla="*/ 1096 w 2144"/>
                <a:gd name="T47" fmla="*/ 696 h 2290"/>
                <a:gd name="T48" fmla="*/ 1184 w 2144"/>
                <a:gd name="T49" fmla="*/ 706 h 2290"/>
                <a:gd name="T50" fmla="*/ 1252 w 2144"/>
                <a:gd name="T51" fmla="*/ 734 h 2290"/>
                <a:gd name="T52" fmla="*/ 1288 w 2144"/>
                <a:gd name="T53" fmla="*/ 764 h 2290"/>
                <a:gd name="T54" fmla="*/ 1326 w 2144"/>
                <a:gd name="T55" fmla="*/ 822 h 2290"/>
                <a:gd name="T56" fmla="*/ 1346 w 2144"/>
                <a:gd name="T57" fmla="*/ 898 h 2290"/>
                <a:gd name="T58" fmla="*/ 1350 w 2144"/>
                <a:gd name="T59" fmla="*/ 956 h 2290"/>
                <a:gd name="T60" fmla="*/ 1340 w 2144"/>
                <a:gd name="T61" fmla="*/ 1018 h 2290"/>
                <a:gd name="T62" fmla="*/ 1290 w 2144"/>
                <a:gd name="T63" fmla="*/ 1118 h 2290"/>
                <a:gd name="T64" fmla="*/ 1194 w 2144"/>
                <a:gd name="T65" fmla="*/ 1226 h 2290"/>
                <a:gd name="T66" fmla="*/ 952 w 2144"/>
                <a:gd name="T67" fmla="*/ 1464 h 2290"/>
                <a:gd name="T68" fmla="*/ 814 w 2144"/>
                <a:gd name="T69" fmla="*/ 1618 h 2290"/>
                <a:gd name="T70" fmla="*/ 774 w 2144"/>
                <a:gd name="T71" fmla="*/ 1676 h 2290"/>
                <a:gd name="T72" fmla="*/ 726 w 2144"/>
                <a:gd name="T73" fmla="*/ 1766 h 2290"/>
                <a:gd name="T74" fmla="*/ 688 w 2144"/>
                <a:gd name="T75" fmla="*/ 1864 h 2290"/>
                <a:gd name="T76" fmla="*/ 668 w 2144"/>
                <a:gd name="T77" fmla="*/ 1938 h 2290"/>
                <a:gd name="T78" fmla="*/ 650 w 2144"/>
                <a:gd name="T79" fmla="*/ 2066 h 2290"/>
                <a:gd name="T80" fmla="*/ 644 w 2144"/>
                <a:gd name="T81" fmla="*/ 2216 h 2290"/>
                <a:gd name="T82" fmla="*/ 1382 w 2144"/>
                <a:gd name="T83" fmla="*/ 2290 h 2290"/>
                <a:gd name="T84" fmla="*/ 1390 w 2144"/>
                <a:gd name="T85" fmla="*/ 2174 h 2290"/>
                <a:gd name="T86" fmla="*/ 1412 w 2144"/>
                <a:gd name="T87" fmla="*/ 2074 h 2290"/>
                <a:gd name="T88" fmla="*/ 1434 w 2144"/>
                <a:gd name="T89" fmla="*/ 2018 h 2290"/>
                <a:gd name="T90" fmla="*/ 1492 w 2144"/>
                <a:gd name="T91" fmla="*/ 1928 h 2290"/>
                <a:gd name="T92" fmla="*/ 1592 w 2144"/>
                <a:gd name="T93" fmla="*/ 1816 h 2290"/>
                <a:gd name="T94" fmla="*/ 1680 w 2144"/>
                <a:gd name="T95" fmla="*/ 1732 h 2290"/>
                <a:gd name="T96" fmla="*/ 1864 w 2144"/>
                <a:gd name="T97" fmla="*/ 1552 h 2290"/>
                <a:gd name="T98" fmla="*/ 1996 w 2144"/>
                <a:gd name="T99" fmla="*/ 1394 h 2290"/>
                <a:gd name="T100" fmla="*/ 2052 w 2144"/>
                <a:gd name="T101" fmla="*/ 1300 h 2290"/>
                <a:gd name="T102" fmla="*/ 2108 w 2144"/>
                <a:gd name="T103" fmla="*/ 1166 h 2290"/>
                <a:gd name="T104" fmla="*/ 2138 w 2144"/>
                <a:gd name="T105" fmla="*/ 1028 h 2290"/>
                <a:gd name="T106" fmla="*/ 2144 w 2144"/>
                <a:gd name="T107" fmla="*/ 934 h 2290"/>
                <a:gd name="T108" fmla="*/ 2132 w 2144"/>
                <a:gd name="T109" fmla="*/ 770 h 2290"/>
                <a:gd name="T110" fmla="*/ 2094 w 2144"/>
                <a:gd name="T111" fmla="*/ 618 h 2290"/>
                <a:gd name="T112" fmla="*/ 2032 w 2144"/>
                <a:gd name="T113" fmla="*/ 478 h 2290"/>
                <a:gd name="T114" fmla="*/ 1946 w 2144"/>
                <a:gd name="T115" fmla="*/ 352 h 2290"/>
                <a:gd name="T116" fmla="*/ 1834 w 2144"/>
                <a:gd name="T117" fmla="*/ 238 h 2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44" h="2290">
                  <a:moveTo>
                    <a:pt x="1790" y="202"/>
                  </a:moveTo>
                  <a:lnTo>
                    <a:pt x="1790" y="202"/>
                  </a:lnTo>
                  <a:lnTo>
                    <a:pt x="1758" y="178"/>
                  </a:lnTo>
                  <a:lnTo>
                    <a:pt x="1724" y="156"/>
                  </a:lnTo>
                  <a:lnTo>
                    <a:pt x="1688" y="134"/>
                  </a:lnTo>
                  <a:lnTo>
                    <a:pt x="1650" y="114"/>
                  </a:lnTo>
                  <a:lnTo>
                    <a:pt x="1612" y="96"/>
                  </a:lnTo>
                  <a:lnTo>
                    <a:pt x="1574" y="80"/>
                  </a:lnTo>
                  <a:lnTo>
                    <a:pt x="1532" y="64"/>
                  </a:lnTo>
                  <a:lnTo>
                    <a:pt x="1490" y="50"/>
                  </a:lnTo>
                  <a:lnTo>
                    <a:pt x="1448" y="38"/>
                  </a:lnTo>
                  <a:lnTo>
                    <a:pt x="1402" y="28"/>
                  </a:lnTo>
                  <a:lnTo>
                    <a:pt x="1356" y="20"/>
                  </a:lnTo>
                  <a:lnTo>
                    <a:pt x="1310" y="12"/>
                  </a:lnTo>
                  <a:lnTo>
                    <a:pt x="1262" y="6"/>
                  </a:lnTo>
                  <a:lnTo>
                    <a:pt x="1212" y="4"/>
                  </a:lnTo>
                  <a:lnTo>
                    <a:pt x="1160" y="0"/>
                  </a:lnTo>
                  <a:lnTo>
                    <a:pt x="1108" y="0"/>
                  </a:lnTo>
                  <a:lnTo>
                    <a:pt x="1108" y="0"/>
                  </a:lnTo>
                  <a:lnTo>
                    <a:pt x="1042" y="0"/>
                  </a:lnTo>
                  <a:lnTo>
                    <a:pt x="976" y="4"/>
                  </a:lnTo>
                  <a:lnTo>
                    <a:pt x="914" y="10"/>
                  </a:lnTo>
                  <a:lnTo>
                    <a:pt x="854" y="18"/>
                  </a:lnTo>
                  <a:lnTo>
                    <a:pt x="796" y="28"/>
                  </a:lnTo>
                  <a:lnTo>
                    <a:pt x="740" y="40"/>
                  </a:lnTo>
                  <a:lnTo>
                    <a:pt x="686" y="56"/>
                  </a:lnTo>
                  <a:lnTo>
                    <a:pt x="636" y="72"/>
                  </a:lnTo>
                  <a:lnTo>
                    <a:pt x="586" y="92"/>
                  </a:lnTo>
                  <a:lnTo>
                    <a:pt x="538" y="114"/>
                  </a:lnTo>
                  <a:lnTo>
                    <a:pt x="494" y="138"/>
                  </a:lnTo>
                  <a:lnTo>
                    <a:pt x="452" y="164"/>
                  </a:lnTo>
                  <a:lnTo>
                    <a:pt x="410" y="192"/>
                  </a:lnTo>
                  <a:lnTo>
                    <a:pt x="372" y="222"/>
                  </a:lnTo>
                  <a:lnTo>
                    <a:pt x="336" y="256"/>
                  </a:lnTo>
                  <a:lnTo>
                    <a:pt x="302" y="292"/>
                  </a:lnTo>
                  <a:lnTo>
                    <a:pt x="302" y="292"/>
                  </a:lnTo>
                  <a:lnTo>
                    <a:pt x="270" y="328"/>
                  </a:lnTo>
                  <a:lnTo>
                    <a:pt x="240" y="366"/>
                  </a:lnTo>
                  <a:lnTo>
                    <a:pt x="212" y="406"/>
                  </a:lnTo>
                  <a:lnTo>
                    <a:pt x="186" y="448"/>
                  </a:lnTo>
                  <a:lnTo>
                    <a:pt x="160" y="492"/>
                  </a:lnTo>
                  <a:lnTo>
                    <a:pt x="136" y="536"/>
                  </a:lnTo>
                  <a:lnTo>
                    <a:pt x="116" y="582"/>
                  </a:lnTo>
                  <a:lnTo>
                    <a:pt x="96" y="628"/>
                  </a:lnTo>
                  <a:lnTo>
                    <a:pt x="78" y="678"/>
                  </a:lnTo>
                  <a:lnTo>
                    <a:pt x="62" y="728"/>
                  </a:lnTo>
                  <a:lnTo>
                    <a:pt x="46" y="780"/>
                  </a:lnTo>
                  <a:lnTo>
                    <a:pt x="34" y="832"/>
                  </a:lnTo>
                  <a:lnTo>
                    <a:pt x="24" y="888"/>
                  </a:lnTo>
                  <a:lnTo>
                    <a:pt x="14" y="944"/>
                  </a:lnTo>
                  <a:lnTo>
                    <a:pt x="6" y="1000"/>
                  </a:lnTo>
                  <a:lnTo>
                    <a:pt x="0" y="1060"/>
                  </a:lnTo>
                  <a:lnTo>
                    <a:pt x="754" y="1168"/>
                  </a:lnTo>
                  <a:lnTo>
                    <a:pt x="754" y="1168"/>
                  </a:lnTo>
                  <a:lnTo>
                    <a:pt x="760" y="1104"/>
                  </a:lnTo>
                  <a:lnTo>
                    <a:pt x="770" y="1046"/>
                  </a:lnTo>
                  <a:lnTo>
                    <a:pt x="782" y="994"/>
                  </a:lnTo>
                  <a:lnTo>
                    <a:pt x="794" y="946"/>
                  </a:lnTo>
                  <a:lnTo>
                    <a:pt x="810" y="902"/>
                  </a:lnTo>
                  <a:lnTo>
                    <a:pt x="828" y="864"/>
                  </a:lnTo>
                  <a:lnTo>
                    <a:pt x="848" y="830"/>
                  </a:lnTo>
                  <a:lnTo>
                    <a:pt x="868" y="802"/>
                  </a:lnTo>
                  <a:lnTo>
                    <a:pt x="868" y="802"/>
                  </a:lnTo>
                  <a:lnTo>
                    <a:pt x="892" y="776"/>
                  </a:lnTo>
                  <a:lnTo>
                    <a:pt x="916" y="756"/>
                  </a:lnTo>
                  <a:lnTo>
                    <a:pt x="944" y="738"/>
                  </a:lnTo>
                  <a:lnTo>
                    <a:pt x="970" y="722"/>
                  </a:lnTo>
                  <a:lnTo>
                    <a:pt x="1000" y="710"/>
                  </a:lnTo>
                  <a:lnTo>
                    <a:pt x="1030" y="702"/>
                  </a:lnTo>
                  <a:lnTo>
                    <a:pt x="1062" y="698"/>
                  </a:lnTo>
                  <a:lnTo>
                    <a:pt x="1096" y="696"/>
                  </a:lnTo>
                  <a:lnTo>
                    <a:pt x="1096" y="696"/>
                  </a:lnTo>
                  <a:lnTo>
                    <a:pt x="1128" y="698"/>
                  </a:lnTo>
                  <a:lnTo>
                    <a:pt x="1156" y="700"/>
                  </a:lnTo>
                  <a:lnTo>
                    <a:pt x="1184" y="706"/>
                  </a:lnTo>
                  <a:lnTo>
                    <a:pt x="1208" y="714"/>
                  </a:lnTo>
                  <a:lnTo>
                    <a:pt x="1232" y="722"/>
                  </a:lnTo>
                  <a:lnTo>
                    <a:pt x="1252" y="734"/>
                  </a:lnTo>
                  <a:lnTo>
                    <a:pt x="1270" y="748"/>
                  </a:lnTo>
                  <a:lnTo>
                    <a:pt x="1288" y="764"/>
                  </a:lnTo>
                  <a:lnTo>
                    <a:pt x="1288" y="764"/>
                  </a:lnTo>
                  <a:lnTo>
                    <a:pt x="1302" y="782"/>
                  </a:lnTo>
                  <a:lnTo>
                    <a:pt x="1316" y="802"/>
                  </a:lnTo>
                  <a:lnTo>
                    <a:pt x="1326" y="822"/>
                  </a:lnTo>
                  <a:lnTo>
                    <a:pt x="1334" y="846"/>
                  </a:lnTo>
                  <a:lnTo>
                    <a:pt x="1342" y="870"/>
                  </a:lnTo>
                  <a:lnTo>
                    <a:pt x="1346" y="898"/>
                  </a:lnTo>
                  <a:lnTo>
                    <a:pt x="1350" y="926"/>
                  </a:lnTo>
                  <a:lnTo>
                    <a:pt x="1350" y="956"/>
                  </a:lnTo>
                  <a:lnTo>
                    <a:pt x="1350" y="956"/>
                  </a:lnTo>
                  <a:lnTo>
                    <a:pt x="1350" y="970"/>
                  </a:lnTo>
                  <a:lnTo>
                    <a:pt x="1348" y="986"/>
                  </a:lnTo>
                  <a:lnTo>
                    <a:pt x="1340" y="1018"/>
                  </a:lnTo>
                  <a:lnTo>
                    <a:pt x="1328" y="1050"/>
                  </a:lnTo>
                  <a:lnTo>
                    <a:pt x="1312" y="1084"/>
                  </a:lnTo>
                  <a:lnTo>
                    <a:pt x="1290" y="1118"/>
                  </a:lnTo>
                  <a:lnTo>
                    <a:pt x="1262" y="1152"/>
                  </a:lnTo>
                  <a:lnTo>
                    <a:pt x="1230" y="1188"/>
                  </a:lnTo>
                  <a:lnTo>
                    <a:pt x="1194" y="1226"/>
                  </a:lnTo>
                  <a:lnTo>
                    <a:pt x="1194" y="1226"/>
                  </a:lnTo>
                  <a:lnTo>
                    <a:pt x="1060" y="1356"/>
                  </a:lnTo>
                  <a:lnTo>
                    <a:pt x="952" y="1464"/>
                  </a:lnTo>
                  <a:lnTo>
                    <a:pt x="870" y="1552"/>
                  </a:lnTo>
                  <a:lnTo>
                    <a:pt x="838" y="1588"/>
                  </a:lnTo>
                  <a:lnTo>
                    <a:pt x="814" y="1618"/>
                  </a:lnTo>
                  <a:lnTo>
                    <a:pt x="814" y="1618"/>
                  </a:lnTo>
                  <a:lnTo>
                    <a:pt x="794" y="1646"/>
                  </a:lnTo>
                  <a:lnTo>
                    <a:pt x="774" y="1676"/>
                  </a:lnTo>
                  <a:lnTo>
                    <a:pt x="758" y="1704"/>
                  </a:lnTo>
                  <a:lnTo>
                    <a:pt x="740" y="1736"/>
                  </a:lnTo>
                  <a:lnTo>
                    <a:pt x="726" y="1766"/>
                  </a:lnTo>
                  <a:lnTo>
                    <a:pt x="712" y="1798"/>
                  </a:lnTo>
                  <a:lnTo>
                    <a:pt x="698" y="1832"/>
                  </a:lnTo>
                  <a:lnTo>
                    <a:pt x="688" y="1864"/>
                  </a:lnTo>
                  <a:lnTo>
                    <a:pt x="688" y="1864"/>
                  </a:lnTo>
                  <a:lnTo>
                    <a:pt x="678" y="1900"/>
                  </a:lnTo>
                  <a:lnTo>
                    <a:pt x="668" y="1938"/>
                  </a:lnTo>
                  <a:lnTo>
                    <a:pt x="662" y="1978"/>
                  </a:lnTo>
                  <a:lnTo>
                    <a:pt x="656" y="2020"/>
                  </a:lnTo>
                  <a:lnTo>
                    <a:pt x="650" y="2066"/>
                  </a:lnTo>
                  <a:lnTo>
                    <a:pt x="648" y="2112"/>
                  </a:lnTo>
                  <a:lnTo>
                    <a:pt x="646" y="2164"/>
                  </a:lnTo>
                  <a:lnTo>
                    <a:pt x="644" y="2216"/>
                  </a:lnTo>
                  <a:lnTo>
                    <a:pt x="644" y="2290"/>
                  </a:lnTo>
                  <a:lnTo>
                    <a:pt x="1382" y="2290"/>
                  </a:lnTo>
                  <a:lnTo>
                    <a:pt x="1382" y="2290"/>
                  </a:lnTo>
                  <a:lnTo>
                    <a:pt x="1384" y="2250"/>
                  </a:lnTo>
                  <a:lnTo>
                    <a:pt x="1386" y="2210"/>
                  </a:lnTo>
                  <a:lnTo>
                    <a:pt x="1390" y="2174"/>
                  </a:lnTo>
                  <a:lnTo>
                    <a:pt x="1396" y="2138"/>
                  </a:lnTo>
                  <a:lnTo>
                    <a:pt x="1402" y="2106"/>
                  </a:lnTo>
                  <a:lnTo>
                    <a:pt x="1412" y="2074"/>
                  </a:lnTo>
                  <a:lnTo>
                    <a:pt x="1422" y="2046"/>
                  </a:lnTo>
                  <a:lnTo>
                    <a:pt x="1434" y="2018"/>
                  </a:lnTo>
                  <a:lnTo>
                    <a:pt x="1434" y="2018"/>
                  </a:lnTo>
                  <a:lnTo>
                    <a:pt x="1448" y="1990"/>
                  </a:lnTo>
                  <a:lnTo>
                    <a:pt x="1468" y="1960"/>
                  </a:lnTo>
                  <a:lnTo>
                    <a:pt x="1492" y="1928"/>
                  </a:lnTo>
                  <a:lnTo>
                    <a:pt x="1520" y="1892"/>
                  </a:lnTo>
                  <a:lnTo>
                    <a:pt x="1554" y="1856"/>
                  </a:lnTo>
                  <a:lnTo>
                    <a:pt x="1592" y="1816"/>
                  </a:lnTo>
                  <a:lnTo>
                    <a:pt x="1634" y="1776"/>
                  </a:lnTo>
                  <a:lnTo>
                    <a:pt x="1680" y="1732"/>
                  </a:lnTo>
                  <a:lnTo>
                    <a:pt x="1680" y="1732"/>
                  </a:lnTo>
                  <a:lnTo>
                    <a:pt x="1748" y="1670"/>
                  </a:lnTo>
                  <a:lnTo>
                    <a:pt x="1810" y="1610"/>
                  </a:lnTo>
                  <a:lnTo>
                    <a:pt x="1864" y="1552"/>
                  </a:lnTo>
                  <a:lnTo>
                    <a:pt x="1914" y="1496"/>
                  </a:lnTo>
                  <a:lnTo>
                    <a:pt x="1958" y="1444"/>
                  </a:lnTo>
                  <a:lnTo>
                    <a:pt x="1996" y="1394"/>
                  </a:lnTo>
                  <a:lnTo>
                    <a:pt x="2028" y="1346"/>
                  </a:lnTo>
                  <a:lnTo>
                    <a:pt x="2052" y="1300"/>
                  </a:lnTo>
                  <a:lnTo>
                    <a:pt x="2052" y="1300"/>
                  </a:lnTo>
                  <a:lnTo>
                    <a:pt x="2074" y="1256"/>
                  </a:lnTo>
                  <a:lnTo>
                    <a:pt x="2092" y="1212"/>
                  </a:lnTo>
                  <a:lnTo>
                    <a:pt x="2108" y="1166"/>
                  </a:lnTo>
                  <a:lnTo>
                    <a:pt x="2122" y="1122"/>
                  </a:lnTo>
                  <a:lnTo>
                    <a:pt x="2132" y="1076"/>
                  </a:lnTo>
                  <a:lnTo>
                    <a:pt x="2138" y="1028"/>
                  </a:lnTo>
                  <a:lnTo>
                    <a:pt x="2142" y="982"/>
                  </a:lnTo>
                  <a:lnTo>
                    <a:pt x="2144" y="934"/>
                  </a:lnTo>
                  <a:lnTo>
                    <a:pt x="2144" y="934"/>
                  </a:lnTo>
                  <a:lnTo>
                    <a:pt x="2142" y="878"/>
                  </a:lnTo>
                  <a:lnTo>
                    <a:pt x="2138" y="824"/>
                  </a:lnTo>
                  <a:lnTo>
                    <a:pt x="2132" y="770"/>
                  </a:lnTo>
                  <a:lnTo>
                    <a:pt x="2122" y="718"/>
                  </a:lnTo>
                  <a:lnTo>
                    <a:pt x="2110" y="666"/>
                  </a:lnTo>
                  <a:lnTo>
                    <a:pt x="2094" y="618"/>
                  </a:lnTo>
                  <a:lnTo>
                    <a:pt x="2076" y="570"/>
                  </a:lnTo>
                  <a:lnTo>
                    <a:pt x="2056" y="524"/>
                  </a:lnTo>
                  <a:lnTo>
                    <a:pt x="2032" y="478"/>
                  </a:lnTo>
                  <a:lnTo>
                    <a:pt x="2006" y="434"/>
                  </a:lnTo>
                  <a:lnTo>
                    <a:pt x="1978" y="392"/>
                  </a:lnTo>
                  <a:lnTo>
                    <a:pt x="1946" y="352"/>
                  </a:lnTo>
                  <a:lnTo>
                    <a:pt x="1910" y="312"/>
                  </a:lnTo>
                  <a:lnTo>
                    <a:pt x="1874" y="274"/>
                  </a:lnTo>
                  <a:lnTo>
                    <a:pt x="1834" y="238"/>
                  </a:lnTo>
                  <a:lnTo>
                    <a:pt x="1790" y="202"/>
                  </a:lnTo>
                  <a:close/>
                </a:path>
              </a:pathLst>
            </a:custGeom>
            <a:solidFill>
              <a:srgbClr val="E62D30"/>
            </a:solidFill>
            <a:ln>
              <a:noFill/>
            </a:ln>
          </p:spPr>
          <p:txBody>
            <a:bodyPr vert="horz" wrap="square" lIns="91440" tIns="45720" rIns="91440" bIns="45720" numCol="1" anchor="t" anchorCtr="0" compatLnSpc="1">
              <a:prstTxWarp prst="textNoShape">
                <a:avLst/>
              </a:prstTxWarp>
            </a:bodyPr>
            <a:lstStyle/>
            <a:p>
              <a:endParaRPr lang="en-AU" dirty="0"/>
            </a:p>
          </p:txBody>
        </p:sp>
        <p:sp>
          <p:nvSpPr>
            <p:cNvPr id="4" name="Freeform 7"/>
            <p:cNvSpPr>
              <a:spLocks/>
            </p:cNvSpPr>
            <p:nvPr userDrawn="1"/>
          </p:nvSpPr>
          <p:spPr bwMode="auto">
            <a:xfrm>
              <a:off x="0" y="3968562"/>
              <a:ext cx="6777348" cy="6223992"/>
            </a:xfrm>
            <a:custGeom>
              <a:avLst/>
              <a:gdLst>
                <a:gd name="T0" fmla="*/ 2132 w 2670"/>
                <a:gd name="T1" fmla="*/ 124 h 2452"/>
                <a:gd name="T2" fmla="*/ 1866 w 2670"/>
                <a:gd name="T3" fmla="*/ 30 h 2452"/>
                <a:gd name="T4" fmla="*/ 1554 w 2670"/>
                <a:gd name="T5" fmla="*/ 0 h 2452"/>
                <a:gd name="T6" fmla="*/ 1224 w 2670"/>
                <a:gd name="T7" fmla="*/ 30 h 2452"/>
                <a:gd name="T8" fmla="*/ 900 w 2670"/>
                <a:gd name="T9" fmla="*/ 150 h 2452"/>
                <a:gd name="T10" fmla="*/ 692 w 2670"/>
                <a:gd name="T11" fmla="*/ 316 h 2452"/>
                <a:gd name="T12" fmla="*/ 514 w 2670"/>
                <a:gd name="T13" fmla="*/ 580 h 2452"/>
                <a:gd name="T14" fmla="*/ 404 w 2670"/>
                <a:gd name="T15" fmla="*/ 900 h 2452"/>
                <a:gd name="T16" fmla="*/ 1270 w 2670"/>
                <a:gd name="T17" fmla="*/ 1362 h 2452"/>
                <a:gd name="T18" fmla="*/ 1314 w 2670"/>
                <a:gd name="T19" fmla="*/ 1078 h 2452"/>
                <a:gd name="T20" fmla="*/ 1390 w 2670"/>
                <a:gd name="T21" fmla="*/ 940 h 2452"/>
                <a:gd name="T22" fmla="*/ 1516 w 2670"/>
                <a:gd name="T23" fmla="*/ 882 h 2452"/>
                <a:gd name="T24" fmla="*/ 1624 w 2670"/>
                <a:gd name="T25" fmla="*/ 892 h 2452"/>
                <a:gd name="T26" fmla="*/ 1688 w 2670"/>
                <a:gd name="T27" fmla="*/ 934 h 2452"/>
                <a:gd name="T28" fmla="*/ 1716 w 2670"/>
                <a:gd name="T29" fmla="*/ 1026 h 2452"/>
                <a:gd name="T30" fmla="*/ 1684 w 2670"/>
                <a:gd name="T31" fmla="*/ 1136 h 2452"/>
                <a:gd name="T32" fmla="*/ 1452 w 2670"/>
                <a:gd name="T33" fmla="*/ 1380 h 2452"/>
                <a:gd name="T34" fmla="*/ 1200 w 2670"/>
                <a:gd name="T35" fmla="*/ 1650 h 2452"/>
                <a:gd name="T36" fmla="*/ 1084 w 2670"/>
                <a:gd name="T37" fmla="*/ 1852 h 2452"/>
                <a:gd name="T38" fmla="*/ 1030 w 2670"/>
                <a:gd name="T39" fmla="*/ 2050 h 2452"/>
                <a:gd name="T40" fmla="*/ 1010 w 2670"/>
                <a:gd name="T41" fmla="*/ 2382 h 2452"/>
                <a:gd name="T42" fmla="*/ 1050 w 2670"/>
                <a:gd name="T43" fmla="*/ 2382 h 2452"/>
                <a:gd name="T44" fmla="*/ 1058 w 2670"/>
                <a:gd name="T45" fmla="*/ 2152 h 2452"/>
                <a:gd name="T46" fmla="*/ 1096 w 2670"/>
                <a:gd name="T47" fmla="*/ 1940 h 2452"/>
                <a:gd name="T48" fmla="*/ 1188 w 2670"/>
                <a:gd name="T49" fmla="*/ 1740 h 2452"/>
                <a:gd name="T50" fmla="*/ 1324 w 2670"/>
                <a:gd name="T51" fmla="*/ 1570 h 2452"/>
                <a:gd name="T52" fmla="*/ 1676 w 2670"/>
                <a:gd name="T53" fmla="*/ 1216 h 2452"/>
                <a:gd name="T54" fmla="*/ 1756 w 2670"/>
                <a:gd name="T55" fmla="*/ 1048 h 2452"/>
                <a:gd name="T56" fmla="*/ 1738 w 2670"/>
                <a:gd name="T57" fmla="*/ 938 h 2452"/>
                <a:gd name="T58" fmla="*/ 1676 w 2670"/>
                <a:gd name="T59" fmla="*/ 866 h 2452"/>
                <a:gd name="T60" fmla="*/ 1542 w 2670"/>
                <a:gd name="T61" fmla="*/ 834 h 2452"/>
                <a:gd name="T62" fmla="*/ 1408 w 2670"/>
                <a:gd name="T63" fmla="*/ 870 h 2452"/>
                <a:gd name="T64" fmla="*/ 1306 w 2670"/>
                <a:gd name="T65" fmla="*/ 982 h 2452"/>
                <a:gd name="T66" fmla="*/ 1240 w 2670"/>
                <a:gd name="T67" fmla="*/ 1264 h 2452"/>
                <a:gd name="T68" fmla="*/ 420 w 2670"/>
                <a:gd name="T69" fmla="*/ 1028 h 2452"/>
                <a:gd name="T70" fmla="*/ 506 w 2670"/>
                <a:gd name="T71" fmla="*/ 702 h 2452"/>
                <a:gd name="T72" fmla="*/ 656 w 2670"/>
                <a:gd name="T73" fmla="*/ 428 h 2452"/>
                <a:gd name="T74" fmla="*/ 834 w 2670"/>
                <a:gd name="T75" fmla="*/ 246 h 2452"/>
                <a:gd name="T76" fmla="*/ 1120 w 2670"/>
                <a:gd name="T77" fmla="*/ 104 h 2452"/>
                <a:gd name="T78" fmla="*/ 1486 w 2670"/>
                <a:gd name="T79" fmla="*/ 48 h 2452"/>
                <a:gd name="T80" fmla="*/ 1762 w 2670"/>
                <a:gd name="T81" fmla="*/ 60 h 2452"/>
                <a:gd name="T82" fmla="*/ 2034 w 2670"/>
                <a:gd name="T83" fmla="*/ 128 h 2452"/>
                <a:gd name="T84" fmla="*/ 2260 w 2670"/>
                <a:gd name="T85" fmla="*/ 256 h 2452"/>
                <a:gd name="T86" fmla="*/ 2454 w 2670"/>
                <a:gd name="T87" fmla="*/ 456 h 2452"/>
                <a:gd name="T88" fmla="*/ 2594 w 2670"/>
                <a:gd name="T89" fmla="*/ 746 h 2452"/>
                <a:gd name="T90" fmla="*/ 2630 w 2670"/>
                <a:gd name="T91" fmla="*/ 1026 h 2452"/>
                <a:gd name="T92" fmla="*/ 2576 w 2670"/>
                <a:gd name="T93" fmla="*/ 1322 h 2452"/>
                <a:gd name="T94" fmla="*/ 2436 w 2670"/>
                <a:gd name="T95" fmla="*/ 1566 h 2452"/>
                <a:gd name="T96" fmla="*/ 2152 w 2670"/>
                <a:gd name="T97" fmla="*/ 1860 h 2452"/>
                <a:gd name="T98" fmla="*/ 1946 w 2670"/>
                <a:gd name="T99" fmla="*/ 2078 h 2452"/>
                <a:gd name="T100" fmla="*/ 1886 w 2670"/>
                <a:gd name="T101" fmla="*/ 2212 h 2452"/>
                <a:gd name="T102" fmla="*/ 1908 w 2670"/>
                <a:gd name="T103" fmla="*/ 2382 h 2452"/>
                <a:gd name="T104" fmla="*/ 1924 w 2670"/>
                <a:gd name="T105" fmla="*/ 2226 h 2452"/>
                <a:gd name="T106" fmla="*/ 1972 w 2670"/>
                <a:gd name="T107" fmla="*/ 2116 h 2452"/>
                <a:gd name="T108" fmla="*/ 2176 w 2670"/>
                <a:gd name="T109" fmla="*/ 1896 h 2452"/>
                <a:gd name="T110" fmla="*/ 2466 w 2670"/>
                <a:gd name="T111" fmla="*/ 1594 h 2452"/>
                <a:gd name="T112" fmla="*/ 2612 w 2670"/>
                <a:gd name="T113" fmla="*/ 1340 h 2452"/>
                <a:gd name="T114" fmla="*/ 2670 w 2670"/>
                <a:gd name="T115" fmla="*/ 1026 h 2452"/>
                <a:gd name="T116" fmla="*/ 2632 w 2670"/>
                <a:gd name="T117" fmla="*/ 730 h 2452"/>
                <a:gd name="T118" fmla="*/ 2486 w 2670"/>
                <a:gd name="T119" fmla="*/ 428 h 2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670" h="2452">
                  <a:moveTo>
                    <a:pt x="2282" y="218"/>
                  </a:moveTo>
                  <a:lnTo>
                    <a:pt x="2282" y="218"/>
                  </a:lnTo>
                  <a:lnTo>
                    <a:pt x="2246" y="192"/>
                  </a:lnTo>
                  <a:lnTo>
                    <a:pt x="2210" y="168"/>
                  </a:lnTo>
                  <a:lnTo>
                    <a:pt x="2172" y="144"/>
                  </a:lnTo>
                  <a:lnTo>
                    <a:pt x="2132" y="124"/>
                  </a:lnTo>
                  <a:lnTo>
                    <a:pt x="2090" y="104"/>
                  </a:lnTo>
                  <a:lnTo>
                    <a:pt x="2048" y="86"/>
                  </a:lnTo>
                  <a:lnTo>
                    <a:pt x="2004" y="70"/>
                  </a:lnTo>
                  <a:lnTo>
                    <a:pt x="1960" y="54"/>
                  </a:lnTo>
                  <a:lnTo>
                    <a:pt x="1914" y="42"/>
                  </a:lnTo>
                  <a:lnTo>
                    <a:pt x="1866" y="30"/>
                  </a:lnTo>
                  <a:lnTo>
                    <a:pt x="1818" y="22"/>
                  </a:lnTo>
                  <a:lnTo>
                    <a:pt x="1768" y="14"/>
                  </a:lnTo>
                  <a:lnTo>
                    <a:pt x="1716" y="8"/>
                  </a:lnTo>
                  <a:lnTo>
                    <a:pt x="1664" y="4"/>
                  </a:lnTo>
                  <a:lnTo>
                    <a:pt x="1610" y="0"/>
                  </a:lnTo>
                  <a:lnTo>
                    <a:pt x="1554" y="0"/>
                  </a:lnTo>
                  <a:lnTo>
                    <a:pt x="1554" y="0"/>
                  </a:lnTo>
                  <a:lnTo>
                    <a:pt x="1484" y="2"/>
                  </a:lnTo>
                  <a:lnTo>
                    <a:pt x="1416" y="4"/>
                  </a:lnTo>
                  <a:lnTo>
                    <a:pt x="1350" y="12"/>
                  </a:lnTo>
                  <a:lnTo>
                    <a:pt x="1286" y="20"/>
                  </a:lnTo>
                  <a:lnTo>
                    <a:pt x="1224" y="30"/>
                  </a:lnTo>
                  <a:lnTo>
                    <a:pt x="1164" y="44"/>
                  </a:lnTo>
                  <a:lnTo>
                    <a:pt x="1106" y="60"/>
                  </a:lnTo>
                  <a:lnTo>
                    <a:pt x="1052" y="80"/>
                  </a:lnTo>
                  <a:lnTo>
                    <a:pt x="998" y="100"/>
                  </a:lnTo>
                  <a:lnTo>
                    <a:pt x="948" y="124"/>
                  </a:lnTo>
                  <a:lnTo>
                    <a:pt x="900" y="150"/>
                  </a:lnTo>
                  <a:lnTo>
                    <a:pt x="854" y="178"/>
                  </a:lnTo>
                  <a:lnTo>
                    <a:pt x="810" y="210"/>
                  </a:lnTo>
                  <a:lnTo>
                    <a:pt x="768" y="242"/>
                  </a:lnTo>
                  <a:lnTo>
                    <a:pt x="730" y="278"/>
                  </a:lnTo>
                  <a:lnTo>
                    <a:pt x="692" y="316"/>
                  </a:lnTo>
                  <a:lnTo>
                    <a:pt x="692" y="316"/>
                  </a:lnTo>
                  <a:lnTo>
                    <a:pt x="658" y="356"/>
                  </a:lnTo>
                  <a:lnTo>
                    <a:pt x="626" y="398"/>
                  </a:lnTo>
                  <a:lnTo>
                    <a:pt x="596" y="442"/>
                  </a:lnTo>
                  <a:lnTo>
                    <a:pt x="566" y="486"/>
                  </a:lnTo>
                  <a:lnTo>
                    <a:pt x="540" y="532"/>
                  </a:lnTo>
                  <a:lnTo>
                    <a:pt x="514" y="580"/>
                  </a:lnTo>
                  <a:lnTo>
                    <a:pt x="492" y="630"/>
                  </a:lnTo>
                  <a:lnTo>
                    <a:pt x="470" y="682"/>
                  </a:lnTo>
                  <a:lnTo>
                    <a:pt x="450" y="734"/>
                  </a:lnTo>
                  <a:lnTo>
                    <a:pt x="432" y="788"/>
                  </a:lnTo>
                  <a:lnTo>
                    <a:pt x="416" y="844"/>
                  </a:lnTo>
                  <a:lnTo>
                    <a:pt x="404" y="900"/>
                  </a:lnTo>
                  <a:lnTo>
                    <a:pt x="392" y="958"/>
                  </a:lnTo>
                  <a:lnTo>
                    <a:pt x="382" y="1018"/>
                  </a:lnTo>
                  <a:lnTo>
                    <a:pt x="374" y="1080"/>
                  </a:lnTo>
                  <a:lnTo>
                    <a:pt x="368" y="1144"/>
                  </a:lnTo>
                  <a:lnTo>
                    <a:pt x="360" y="1232"/>
                  </a:lnTo>
                  <a:lnTo>
                    <a:pt x="1270" y="1362"/>
                  </a:lnTo>
                  <a:lnTo>
                    <a:pt x="1278" y="1270"/>
                  </a:lnTo>
                  <a:lnTo>
                    <a:pt x="1278" y="1270"/>
                  </a:lnTo>
                  <a:lnTo>
                    <a:pt x="1286" y="1214"/>
                  </a:lnTo>
                  <a:lnTo>
                    <a:pt x="1292" y="1164"/>
                  </a:lnTo>
                  <a:lnTo>
                    <a:pt x="1302" y="1118"/>
                  </a:lnTo>
                  <a:lnTo>
                    <a:pt x="1314" y="1078"/>
                  </a:lnTo>
                  <a:lnTo>
                    <a:pt x="1326" y="1040"/>
                  </a:lnTo>
                  <a:lnTo>
                    <a:pt x="1340" y="1008"/>
                  </a:lnTo>
                  <a:lnTo>
                    <a:pt x="1354" y="980"/>
                  </a:lnTo>
                  <a:lnTo>
                    <a:pt x="1372" y="958"/>
                  </a:lnTo>
                  <a:lnTo>
                    <a:pt x="1372" y="958"/>
                  </a:lnTo>
                  <a:lnTo>
                    <a:pt x="1390" y="940"/>
                  </a:lnTo>
                  <a:lnTo>
                    <a:pt x="1408" y="924"/>
                  </a:lnTo>
                  <a:lnTo>
                    <a:pt x="1426" y="910"/>
                  </a:lnTo>
                  <a:lnTo>
                    <a:pt x="1448" y="900"/>
                  </a:lnTo>
                  <a:lnTo>
                    <a:pt x="1470" y="890"/>
                  </a:lnTo>
                  <a:lnTo>
                    <a:pt x="1492" y="884"/>
                  </a:lnTo>
                  <a:lnTo>
                    <a:pt x="1516" y="882"/>
                  </a:lnTo>
                  <a:lnTo>
                    <a:pt x="1542" y="880"/>
                  </a:lnTo>
                  <a:lnTo>
                    <a:pt x="1542" y="880"/>
                  </a:lnTo>
                  <a:lnTo>
                    <a:pt x="1566" y="880"/>
                  </a:lnTo>
                  <a:lnTo>
                    <a:pt x="1586" y="882"/>
                  </a:lnTo>
                  <a:lnTo>
                    <a:pt x="1606" y="886"/>
                  </a:lnTo>
                  <a:lnTo>
                    <a:pt x="1624" y="892"/>
                  </a:lnTo>
                  <a:lnTo>
                    <a:pt x="1640" y="898"/>
                  </a:lnTo>
                  <a:lnTo>
                    <a:pt x="1656" y="904"/>
                  </a:lnTo>
                  <a:lnTo>
                    <a:pt x="1668" y="914"/>
                  </a:lnTo>
                  <a:lnTo>
                    <a:pt x="1678" y="924"/>
                  </a:lnTo>
                  <a:lnTo>
                    <a:pt x="1678" y="924"/>
                  </a:lnTo>
                  <a:lnTo>
                    <a:pt x="1688" y="934"/>
                  </a:lnTo>
                  <a:lnTo>
                    <a:pt x="1696" y="946"/>
                  </a:lnTo>
                  <a:lnTo>
                    <a:pt x="1702" y="960"/>
                  </a:lnTo>
                  <a:lnTo>
                    <a:pt x="1708" y="974"/>
                  </a:lnTo>
                  <a:lnTo>
                    <a:pt x="1712" y="990"/>
                  </a:lnTo>
                  <a:lnTo>
                    <a:pt x="1714" y="1008"/>
                  </a:lnTo>
                  <a:lnTo>
                    <a:pt x="1716" y="1026"/>
                  </a:lnTo>
                  <a:lnTo>
                    <a:pt x="1716" y="1048"/>
                  </a:lnTo>
                  <a:lnTo>
                    <a:pt x="1716" y="1048"/>
                  </a:lnTo>
                  <a:lnTo>
                    <a:pt x="1714" y="1068"/>
                  </a:lnTo>
                  <a:lnTo>
                    <a:pt x="1708" y="1088"/>
                  </a:lnTo>
                  <a:lnTo>
                    <a:pt x="1698" y="1112"/>
                  </a:lnTo>
                  <a:lnTo>
                    <a:pt x="1684" y="1136"/>
                  </a:lnTo>
                  <a:lnTo>
                    <a:pt x="1666" y="1162"/>
                  </a:lnTo>
                  <a:lnTo>
                    <a:pt x="1644" y="1190"/>
                  </a:lnTo>
                  <a:lnTo>
                    <a:pt x="1618" y="1218"/>
                  </a:lnTo>
                  <a:lnTo>
                    <a:pt x="1588" y="1246"/>
                  </a:lnTo>
                  <a:lnTo>
                    <a:pt x="1588" y="1246"/>
                  </a:lnTo>
                  <a:lnTo>
                    <a:pt x="1452" y="1380"/>
                  </a:lnTo>
                  <a:lnTo>
                    <a:pt x="1342" y="1490"/>
                  </a:lnTo>
                  <a:lnTo>
                    <a:pt x="1296" y="1538"/>
                  </a:lnTo>
                  <a:lnTo>
                    <a:pt x="1258" y="1580"/>
                  </a:lnTo>
                  <a:lnTo>
                    <a:pt x="1226" y="1618"/>
                  </a:lnTo>
                  <a:lnTo>
                    <a:pt x="1200" y="1650"/>
                  </a:lnTo>
                  <a:lnTo>
                    <a:pt x="1200" y="1650"/>
                  </a:lnTo>
                  <a:lnTo>
                    <a:pt x="1178" y="1680"/>
                  </a:lnTo>
                  <a:lnTo>
                    <a:pt x="1156" y="1714"/>
                  </a:lnTo>
                  <a:lnTo>
                    <a:pt x="1136" y="1746"/>
                  </a:lnTo>
                  <a:lnTo>
                    <a:pt x="1118" y="1780"/>
                  </a:lnTo>
                  <a:lnTo>
                    <a:pt x="1100" y="1816"/>
                  </a:lnTo>
                  <a:lnTo>
                    <a:pt x="1084" y="1852"/>
                  </a:lnTo>
                  <a:lnTo>
                    <a:pt x="1070" y="1888"/>
                  </a:lnTo>
                  <a:lnTo>
                    <a:pt x="1058" y="1926"/>
                  </a:lnTo>
                  <a:lnTo>
                    <a:pt x="1058" y="1926"/>
                  </a:lnTo>
                  <a:lnTo>
                    <a:pt x="1048" y="1964"/>
                  </a:lnTo>
                  <a:lnTo>
                    <a:pt x="1038" y="2006"/>
                  </a:lnTo>
                  <a:lnTo>
                    <a:pt x="1030" y="2050"/>
                  </a:lnTo>
                  <a:lnTo>
                    <a:pt x="1022" y="2096"/>
                  </a:lnTo>
                  <a:lnTo>
                    <a:pt x="1018" y="2146"/>
                  </a:lnTo>
                  <a:lnTo>
                    <a:pt x="1014" y="2198"/>
                  </a:lnTo>
                  <a:lnTo>
                    <a:pt x="1012" y="2252"/>
                  </a:lnTo>
                  <a:lnTo>
                    <a:pt x="1010" y="2308"/>
                  </a:lnTo>
                  <a:lnTo>
                    <a:pt x="1010" y="2382"/>
                  </a:lnTo>
                  <a:lnTo>
                    <a:pt x="1010" y="2382"/>
                  </a:lnTo>
                  <a:lnTo>
                    <a:pt x="1010" y="2412"/>
                  </a:lnTo>
                  <a:lnTo>
                    <a:pt x="0" y="2412"/>
                  </a:lnTo>
                  <a:lnTo>
                    <a:pt x="0" y="2452"/>
                  </a:lnTo>
                  <a:lnTo>
                    <a:pt x="1050" y="2452"/>
                  </a:lnTo>
                  <a:lnTo>
                    <a:pt x="1050" y="2382"/>
                  </a:lnTo>
                  <a:lnTo>
                    <a:pt x="1050" y="2382"/>
                  </a:lnTo>
                  <a:lnTo>
                    <a:pt x="1050" y="2308"/>
                  </a:lnTo>
                  <a:lnTo>
                    <a:pt x="1050" y="2308"/>
                  </a:lnTo>
                  <a:lnTo>
                    <a:pt x="1052" y="2254"/>
                  </a:lnTo>
                  <a:lnTo>
                    <a:pt x="1054" y="2202"/>
                  </a:lnTo>
                  <a:lnTo>
                    <a:pt x="1058" y="2152"/>
                  </a:lnTo>
                  <a:lnTo>
                    <a:pt x="1062" y="2104"/>
                  </a:lnTo>
                  <a:lnTo>
                    <a:pt x="1068" y="2060"/>
                  </a:lnTo>
                  <a:lnTo>
                    <a:pt x="1076" y="2018"/>
                  </a:lnTo>
                  <a:lnTo>
                    <a:pt x="1086" y="1978"/>
                  </a:lnTo>
                  <a:lnTo>
                    <a:pt x="1096" y="1940"/>
                  </a:lnTo>
                  <a:lnTo>
                    <a:pt x="1096" y="1940"/>
                  </a:lnTo>
                  <a:lnTo>
                    <a:pt x="1108" y="1906"/>
                  </a:lnTo>
                  <a:lnTo>
                    <a:pt x="1122" y="1872"/>
                  </a:lnTo>
                  <a:lnTo>
                    <a:pt x="1136" y="1838"/>
                  </a:lnTo>
                  <a:lnTo>
                    <a:pt x="1152" y="1804"/>
                  </a:lnTo>
                  <a:lnTo>
                    <a:pt x="1170" y="1772"/>
                  </a:lnTo>
                  <a:lnTo>
                    <a:pt x="1188" y="1740"/>
                  </a:lnTo>
                  <a:lnTo>
                    <a:pt x="1208" y="1710"/>
                  </a:lnTo>
                  <a:lnTo>
                    <a:pt x="1230" y="1680"/>
                  </a:lnTo>
                  <a:lnTo>
                    <a:pt x="1230" y="1680"/>
                  </a:lnTo>
                  <a:lnTo>
                    <a:pt x="1256" y="1648"/>
                  </a:lnTo>
                  <a:lnTo>
                    <a:pt x="1286" y="1612"/>
                  </a:lnTo>
                  <a:lnTo>
                    <a:pt x="1324" y="1570"/>
                  </a:lnTo>
                  <a:lnTo>
                    <a:pt x="1370" y="1524"/>
                  </a:lnTo>
                  <a:lnTo>
                    <a:pt x="1478" y="1414"/>
                  </a:lnTo>
                  <a:lnTo>
                    <a:pt x="1614" y="1282"/>
                  </a:lnTo>
                  <a:lnTo>
                    <a:pt x="1614" y="1282"/>
                  </a:lnTo>
                  <a:lnTo>
                    <a:pt x="1648" y="1248"/>
                  </a:lnTo>
                  <a:lnTo>
                    <a:pt x="1676" y="1216"/>
                  </a:lnTo>
                  <a:lnTo>
                    <a:pt x="1700" y="1186"/>
                  </a:lnTo>
                  <a:lnTo>
                    <a:pt x="1720" y="1156"/>
                  </a:lnTo>
                  <a:lnTo>
                    <a:pt x="1736" y="1128"/>
                  </a:lnTo>
                  <a:lnTo>
                    <a:pt x="1748" y="1100"/>
                  </a:lnTo>
                  <a:lnTo>
                    <a:pt x="1754" y="1072"/>
                  </a:lnTo>
                  <a:lnTo>
                    <a:pt x="1756" y="1048"/>
                  </a:lnTo>
                  <a:lnTo>
                    <a:pt x="1756" y="1048"/>
                  </a:lnTo>
                  <a:lnTo>
                    <a:pt x="1756" y="1022"/>
                  </a:lnTo>
                  <a:lnTo>
                    <a:pt x="1754" y="998"/>
                  </a:lnTo>
                  <a:lnTo>
                    <a:pt x="1750" y="976"/>
                  </a:lnTo>
                  <a:lnTo>
                    <a:pt x="1744" y="956"/>
                  </a:lnTo>
                  <a:lnTo>
                    <a:pt x="1738" y="938"/>
                  </a:lnTo>
                  <a:lnTo>
                    <a:pt x="1728" y="920"/>
                  </a:lnTo>
                  <a:lnTo>
                    <a:pt x="1718" y="904"/>
                  </a:lnTo>
                  <a:lnTo>
                    <a:pt x="1706" y="890"/>
                  </a:lnTo>
                  <a:lnTo>
                    <a:pt x="1706" y="890"/>
                  </a:lnTo>
                  <a:lnTo>
                    <a:pt x="1692" y="876"/>
                  </a:lnTo>
                  <a:lnTo>
                    <a:pt x="1676" y="866"/>
                  </a:lnTo>
                  <a:lnTo>
                    <a:pt x="1660" y="856"/>
                  </a:lnTo>
                  <a:lnTo>
                    <a:pt x="1640" y="848"/>
                  </a:lnTo>
                  <a:lnTo>
                    <a:pt x="1618" y="842"/>
                  </a:lnTo>
                  <a:lnTo>
                    <a:pt x="1594" y="838"/>
                  </a:lnTo>
                  <a:lnTo>
                    <a:pt x="1570" y="836"/>
                  </a:lnTo>
                  <a:lnTo>
                    <a:pt x="1542" y="834"/>
                  </a:lnTo>
                  <a:lnTo>
                    <a:pt x="1542" y="834"/>
                  </a:lnTo>
                  <a:lnTo>
                    <a:pt x="1512" y="836"/>
                  </a:lnTo>
                  <a:lnTo>
                    <a:pt x="1484" y="840"/>
                  </a:lnTo>
                  <a:lnTo>
                    <a:pt x="1458" y="846"/>
                  </a:lnTo>
                  <a:lnTo>
                    <a:pt x="1432" y="856"/>
                  </a:lnTo>
                  <a:lnTo>
                    <a:pt x="1408" y="870"/>
                  </a:lnTo>
                  <a:lnTo>
                    <a:pt x="1386" y="886"/>
                  </a:lnTo>
                  <a:lnTo>
                    <a:pt x="1364" y="904"/>
                  </a:lnTo>
                  <a:lnTo>
                    <a:pt x="1344" y="926"/>
                  </a:lnTo>
                  <a:lnTo>
                    <a:pt x="1344" y="926"/>
                  </a:lnTo>
                  <a:lnTo>
                    <a:pt x="1324" y="952"/>
                  </a:lnTo>
                  <a:lnTo>
                    <a:pt x="1306" y="982"/>
                  </a:lnTo>
                  <a:lnTo>
                    <a:pt x="1290" y="1018"/>
                  </a:lnTo>
                  <a:lnTo>
                    <a:pt x="1278" y="1058"/>
                  </a:lnTo>
                  <a:lnTo>
                    <a:pt x="1264" y="1102"/>
                  </a:lnTo>
                  <a:lnTo>
                    <a:pt x="1254" y="1152"/>
                  </a:lnTo>
                  <a:lnTo>
                    <a:pt x="1246" y="1206"/>
                  </a:lnTo>
                  <a:lnTo>
                    <a:pt x="1240" y="1264"/>
                  </a:lnTo>
                  <a:lnTo>
                    <a:pt x="1234" y="1310"/>
                  </a:lnTo>
                  <a:lnTo>
                    <a:pt x="404" y="1192"/>
                  </a:lnTo>
                  <a:lnTo>
                    <a:pt x="408" y="1148"/>
                  </a:lnTo>
                  <a:lnTo>
                    <a:pt x="408" y="1148"/>
                  </a:lnTo>
                  <a:lnTo>
                    <a:pt x="412" y="1086"/>
                  </a:lnTo>
                  <a:lnTo>
                    <a:pt x="420" y="1028"/>
                  </a:lnTo>
                  <a:lnTo>
                    <a:pt x="430" y="970"/>
                  </a:lnTo>
                  <a:lnTo>
                    <a:pt x="442" y="912"/>
                  </a:lnTo>
                  <a:lnTo>
                    <a:pt x="456" y="858"/>
                  </a:lnTo>
                  <a:lnTo>
                    <a:pt x="470" y="804"/>
                  </a:lnTo>
                  <a:lnTo>
                    <a:pt x="488" y="752"/>
                  </a:lnTo>
                  <a:lnTo>
                    <a:pt x="506" y="702"/>
                  </a:lnTo>
                  <a:lnTo>
                    <a:pt x="526" y="652"/>
                  </a:lnTo>
                  <a:lnTo>
                    <a:pt x="548" y="604"/>
                  </a:lnTo>
                  <a:lnTo>
                    <a:pt x="572" y="558"/>
                  </a:lnTo>
                  <a:lnTo>
                    <a:pt x="598" y="514"/>
                  </a:lnTo>
                  <a:lnTo>
                    <a:pt x="626" y="470"/>
                  </a:lnTo>
                  <a:lnTo>
                    <a:pt x="656" y="428"/>
                  </a:lnTo>
                  <a:lnTo>
                    <a:pt x="688" y="388"/>
                  </a:lnTo>
                  <a:lnTo>
                    <a:pt x="720" y="350"/>
                  </a:lnTo>
                  <a:lnTo>
                    <a:pt x="720" y="350"/>
                  </a:lnTo>
                  <a:lnTo>
                    <a:pt x="756" y="314"/>
                  </a:lnTo>
                  <a:lnTo>
                    <a:pt x="794" y="278"/>
                  </a:lnTo>
                  <a:lnTo>
                    <a:pt x="834" y="246"/>
                  </a:lnTo>
                  <a:lnTo>
                    <a:pt x="876" y="218"/>
                  </a:lnTo>
                  <a:lnTo>
                    <a:pt x="920" y="190"/>
                  </a:lnTo>
                  <a:lnTo>
                    <a:pt x="966" y="166"/>
                  </a:lnTo>
                  <a:lnTo>
                    <a:pt x="1016" y="142"/>
                  </a:lnTo>
                  <a:lnTo>
                    <a:pt x="1066" y="122"/>
                  </a:lnTo>
                  <a:lnTo>
                    <a:pt x="1120" y="104"/>
                  </a:lnTo>
                  <a:lnTo>
                    <a:pt x="1176" y="88"/>
                  </a:lnTo>
                  <a:lnTo>
                    <a:pt x="1234" y="76"/>
                  </a:lnTo>
                  <a:lnTo>
                    <a:pt x="1294" y="64"/>
                  </a:lnTo>
                  <a:lnTo>
                    <a:pt x="1356" y="56"/>
                  </a:lnTo>
                  <a:lnTo>
                    <a:pt x="1420" y="50"/>
                  </a:lnTo>
                  <a:lnTo>
                    <a:pt x="1486" y="48"/>
                  </a:lnTo>
                  <a:lnTo>
                    <a:pt x="1554" y="46"/>
                  </a:lnTo>
                  <a:lnTo>
                    <a:pt x="1554" y="46"/>
                  </a:lnTo>
                  <a:lnTo>
                    <a:pt x="1608" y="46"/>
                  </a:lnTo>
                  <a:lnTo>
                    <a:pt x="1660" y="50"/>
                  </a:lnTo>
                  <a:lnTo>
                    <a:pt x="1712" y="54"/>
                  </a:lnTo>
                  <a:lnTo>
                    <a:pt x="1762" y="60"/>
                  </a:lnTo>
                  <a:lnTo>
                    <a:pt x="1810" y="66"/>
                  </a:lnTo>
                  <a:lnTo>
                    <a:pt x="1856" y="76"/>
                  </a:lnTo>
                  <a:lnTo>
                    <a:pt x="1904" y="86"/>
                  </a:lnTo>
                  <a:lnTo>
                    <a:pt x="1948" y="98"/>
                  </a:lnTo>
                  <a:lnTo>
                    <a:pt x="1992" y="112"/>
                  </a:lnTo>
                  <a:lnTo>
                    <a:pt x="2034" y="128"/>
                  </a:lnTo>
                  <a:lnTo>
                    <a:pt x="2074" y="146"/>
                  </a:lnTo>
                  <a:lnTo>
                    <a:pt x="2114" y="164"/>
                  </a:lnTo>
                  <a:lnTo>
                    <a:pt x="2152" y="186"/>
                  </a:lnTo>
                  <a:lnTo>
                    <a:pt x="2190" y="208"/>
                  </a:lnTo>
                  <a:lnTo>
                    <a:pt x="2226" y="232"/>
                  </a:lnTo>
                  <a:lnTo>
                    <a:pt x="2260" y="256"/>
                  </a:lnTo>
                  <a:lnTo>
                    <a:pt x="2260" y="256"/>
                  </a:lnTo>
                  <a:lnTo>
                    <a:pt x="2304" y="294"/>
                  </a:lnTo>
                  <a:lnTo>
                    <a:pt x="2346" y="332"/>
                  </a:lnTo>
                  <a:lnTo>
                    <a:pt x="2384" y="372"/>
                  </a:lnTo>
                  <a:lnTo>
                    <a:pt x="2422" y="412"/>
                  </a:lnTo>
                  <a:lnTo>
                    <a:pt x="2454" y="456"/>
                  </a:lnTo>
                  <a:lnTo>
                    <a:pt x="2484" y="500"/>
                  </a:lnTo>
                  <a:lnTo>
                    <a:pt x="2512" y="546"/>
                  </a:lnTo>
                  <a:lnTo>
                    <a:pt x="2536" y="594"/>
                  </a:lnTo>
                  <a:lnTo>
                    <a:pt x="2558" y="642"/>
                  </a:lnTo>
                  <a:lnTo>
                    <a:pt x="2578" y="694"/>
                  </a:lnTo>
                  <a:lnTo>
                    <a:pt x="2594" y="746"/>
                  </a:lnTo>
                  <a:lnTo>
                    <a:pt x="2606" y="798"/>
                  </a:lnTo>
                  <a:lnTo>
                    <a:pt x="2616" y="854"/>
                  </a:lnTo>
                  <a:lnTo>
                    <a:pt x="2624" y="910"/>
                  </a:lnTo>
                  <a:lnTo>
                    <a:pt x="2628" y="968"/>
                  </a:lnTo>
                  <a:lnTo>
                    <a:pt x="2630" y="1026"/>
                  </a:lnTo>
                  <a:lnTo>
                    <a:pt x="2630" y="1026"/>
                  </a:lnTo>
                  <a:lnTo>
                    <a:pt x="2628" y="1078"/>
                  </a:lnTo>
                  <a:lnTo>
                    <a:pt x="2624" y="1128"/>
                  </a:lnTo>
                  <a:lnTo>
                    <a:pt x="2616" y="1176"/>
                  </a:lnTo>
                  <a:lnTo>
                    <a:pt x="2606" y="1226"/>
                  </a:lnTo>
                  <a:lnTo>
                    <a:pt x="2592" y="1274"/>
                  </a:lnTo>
                  <a:lnTo>
                    <a:pt x="2576" y="1322"/>
                  </a:lnTo>
                  <a:lnTo>
                    <a:pt x="2556" y="1370"/>
                  </a:lnTo>
                  <a:lnTo>
                    <a:pt x="2534" y="1416"/>
                  </a:lnTo>
                  <a:lnTo>
                    <a:pt x="2534" y="1416"/>
                  </a:lnTo>
                  <a:lnTo>
                    <a:pt x="2506" y="1464"/>
                  </a:lnTo>
                  <a:lnTo>
                    <a:pt x="2474" y="1514"/>
                  </a:lnTo>
                  <a:lnTo>
                    <a:pt x="2436" y="1566"/>
                  </a:lnTo>
                  <a:lnTo>
                    <a:pt x="2390" y="1620"/>
                  </a:lnTo>
                  <a:lnTo>
                    <a:pt x="2340" y="1676"/>
                  </a:lnTo>
                  <a:lnTo>
                    <a:pt x="2284" y="1734"/>
                  </a:lnTo>
                  <a:lnTo>
                    <a:pt x="2220" y="1796"/>
                  </a:lnTo>
                  <a:lnTo>
                    <a:pt x="2152" y="1860"/>
                  </a:lnTo>
                  <a:lnTo>
                    <a:pt x="2152" y="1860"/>
                  </a:lnTo>
                  <a:lnTo>
                    <a:pt x="2106" y="1902"/>
                  </a:lnTo>
                  <a:lnTo>
                    <a:pt x="2066" y="1942"/>
                  </a:lnTo>
                  <a:lnTo>
                    <a:pt x="2030" y="1980"/>
                  </a:lnTo>
                  <a:lnTo>
                    <a:pt x="1998" y="2014"/>
                  </a:lnTo>
                  <a:lnTo>
                    <a:pt x="1970" y="2048"/>
                  </a:lnTo>
                  <a:lnTo>
                    <a:pt x="1946" y="2078"/>
                  </a:lnTo>
                  <a:lnTo>
                    <a:pt x="1928" y="2106"/>
                  </a:lnTo>
                  <a:lnTo>
                    <a:pt x="1914" y="2132"/>
                  </a:lnTo>
                  <a:lnTo>
                    <a:pt x="1914" y="2132"/>
                  </a:lnTo>
                  <a:lnTo>
                    <a:pt x="1904" y="2158"/>
                  </a:lnTo>
                  <a:lnTo>
                    <a:pt x="1894" y="2184"/>
                  </a:lnTo>
                  <a:lnTo>
                    <a:pt x="1886" y="2212"/>
                  </a:lnTo>
                  <a:lnTo>
                    <a:pt x="1880" y="2242"/>
                  </a:lnTo>
                  <a:lnTo>
                    <a:pt x="1876" y="2274"/>
                  </a:lnTo>
                  <a:lnTo>
                    <a:pt x="1872" y="2308"/>
                  </a:lnTo>
                  <a:lnTo>
                    <a:pt x="1868" y="2344"/>
                  </a:lnTo>
                  <a:lnTo>
                    <a:pt x="1868" y="2382"/>
                  </a:lnTo>
                  <a:lnTo>
                    <a:pt x="1908" y="2382"/>
                  </a:lnTo>
                  <a:lnTo>
                    <a:pt x="1908" y="2382"/>
                  </a:lnTo>
                  <a:lnTo>
                    <a:pt x="1908" y="2348"/>
                  </a:lnTo>
                  <a:lnTo>
                    <a:pt x="1912" y="2314"/>
                  </a:lnTo>
                  <a:lnTo>
                    <a:pt x="1914" y="2284"/>
                  </a:lnTo>
                  <a:lnTo>
                    <a:pt x="1920" y="2254"/>
                  </a:lnTo>
                  <a:lnTo>
                    <a:pt x="1924" y="2226"/>
                  </a:lnTo>
                  <a:lnTo>
                    <a:pt x="1932" y="2200"/>
                  </a:lnTo>
                  <a:lnTo>
                    <a:pt x="1940" y="2176"/>
                  </a:lnTo>
                  <a:lnTo>
                    <a:pt x="1950" y="2154"/>
                  </a:lnTo>
                  <a:lnTo>
                    <a:pt x="1950" y="2154"/>
                  </a:lnTo>
                  <a:lnTo>
                    <a:pt x="1958" y="2138"/>
                  </a:lnTo>
                  <a:lnTo>
                    <a:pt x="1972" y="2116"/>
                  </a:lnTo>
                  <a:lnTo>
                    <a:pt x="1990" y="2090"/>
                  </a:lnTo>
                  <a:lnTo>
                    <a:pt x="2014" y="2062"/>
                  </a:lnTo>
                  <a:lnTo>
                    <a:pt x="2042" y="2028"/>
                  </a:lnTo>
                  <a:lnTo>
                    <a:pt x="2080" y="1988"/>
                  </a:lnTo>
                  <a:lnTo>
                    <a:pt x="2124" y="1946"/>
                  </a:lnTo>
                  <a:lnTo>
                    <a:pt x="2176" y="1896"/>
                  </a:lnTo>
                  <a:lnTo>
                    <a:pt x="2176" y="1896"/>
                  </a:lnTo>
                  <a:lnTo>
                    <a:pt x="2246" y="1830"/>
                  </a:lnTo>
                  <a:lnTo>
                    <a:pt x="2310" y="1768"/>
                  </a:lnTo>
                  <a:lnTo>
                    <a:pt x="2368" y="1708"/>
                  </a:lnTo>
                  <a:lnTo>
                    <a:pt x="2420" y="1650"/>
                  </a:lnTo>
                  <a:lnTo>
                    <a:pt x="2466" y="1594"/>
                  </a:lnTo>
                  <a:lnTo>
                    <a:pt x="2506" y="1540"/>
                  </a:lnTo>
                  <a:lnTo>
                    <a:pt x="2540" y="1490"/>
                  </a:lnTo>
                  <a:lnTo>
                    <a:pt x="2568" y="1440"/>
                  </a:lnTo>
                  <a:lnTo>
                    <a:pt x="2568" y="1440"/>
                  </a:lnTo>
                  <a:lnTo>
                    <a:pt x="2592" y="1390"/>
                  </a:lnTo>
                  <a:lnTo>
                    <a:pt x="2612" y="1340"/>
                  </a:lnTo>
                  <a:lnTo>
                    <a:pt x="2630" y="1290"/>
                  </a:lnTo>
                  <a:lnTo>
                    <a:pt x="2644" y="1238"/>
                  </a:lnTo>
                  <a:lnTo>
                    <a:pt x="2656" y="1186"/>
                  </a:lnTo>
                  <a:lnTo>
                    <a:pt x="2664" y="1134"/>
                  </a:lnTo>
                  <a:lnTo>
                    <a:pt x="2668" y="1080"/>
                  </a:lnTo>
                  <a:lnTo>
                    <a:pt x="2670" y="1026"/>
                  </a:lnTo>
                  <a:lnTo>
                    <a:pt x="2670" y="1026"/>
                  </a:lnTo>
                  <a:lnTo>
                    <a:pt x="2668" y="964"/>
                  </a:lnTo>
                  <a:lnTo>
                    <a:pt x="2664" y="904"/>
                  </a:lnTo>
                  <a:lnTo>
                    <a:pt x="2656" y="844"/>
                  </a:lnTo>
                  <a:lnTo>
                    <a:pt x="2646" y="788"/>
                  </a:lnTo>
                  <a:lnTo>
                    <a:pt x="2632" y="730"/>
                  </a:lnTo>
                  <a:lnTo>
                    <a:pt x="2616" y="676"/>
                  </a:lnTo>
                  <a:lnTo>
                    <a:pt x="2596" y="624"/>
                  </a:lnTo>
                  <a:lnTo>
                    <a:pt x="2572" y="572"/>
                  </a:lnTo>
                  <a:lnTo>
                    <a:pt x="2546" y="522"/>
                  </a:lnTo>
                  <a:lnTo>
                    <a:pt x="2518" y="474"/>
                  </a:lnTo>
                  <a:lnTo>
                    <a:pt x="2486" y="428"/>
                  </a:lnTo>
                  <a:lnTo>
                    <a:pt x="2452" y="382"/>
                  </a:lnTo>
                  <a:lnTo>
                    <a:pt x="2414" y="338"/>
                  </a:lnTo>
                  <a:lnTo>
                    <a:pt x="2372" y="298"/>
                  </a:lnTo>
                  <a:lnTo>
                    <a:pt x="2328" y="258"/>
                  </a:lnTo>
                  <a:lnTo>
                    <a:pt x="2282" y="21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AU" dirty="0"/>
            </a:p>
          </p:txBody>
        </p:sp>
        <p:sp>
          <p:nvSpPr>
            <p:cNvPr id="5" name="Rectangle 10"/>
            <p:cNvSpPr>
              <a:spLocks noChangeArrowheads="1"/>
            </p:cNvSpPr>
            <p:nvPr userDrawn="1"/>
          </p:nvSpPr>
          <p:spPr bwMode="auto">
            <a:xfrm>
              <a:off x="2878469" y="10578380"/>
              <a:ext cx="1710836" cy="1319933"/>
            </a:xfrm>
            <a:prstGeom prst="rect">
              <a:avLst/>
            </a:prstGeom>
            <a:solidFill>
              <a:srgbClr val="E62D30"/>
            </a:solidFill>
            <a:ln>
              <a:noFill/>
            </a:ln>
          </p:spPr>
          <p:txBody>
            <a:bodyPr vert="horz" wrap="square" lIns="91440" tIns="45720" rIns="91440" bIns="45720" numCol="1" anchor="t" anchorCtr="0" compatLnSpc="1">
              <a:prstTxWarp prst="textNoShape">
                <a:avLst/>
              </a:prstTxWarp>
            </a:bodyPr>
            <a:lstStyle/>
            <a:p>
              <a:endParaRPr lang="en-AU" dirty="0"/>
            </a:p>
          </p:txBody>
        </p:sp>
        <p:grpSp>
          <p:nvGrpSpPr>
            <p:cNvPr id="6" name="Group 10"/>
            <p:cNvGrpSpPr/>
            <p:nvPr userDrawn="1"/>
          </p:nvGrpSpPr>
          <p:grpSpPr>
            <a:xfrm>
              <a:off x="2858163" y="10344853"/>
              <a:ext cx="21519487" cy="1553460"/>
              <a:chOff x="2858163" y="10344853"/>
              <a:chExt cx="21519487" cy="1553460"/>
            </a:xfrm>
            <a:grpFill/>
          </p:grpSpPr>
          <p:sp>
            <p:nvSpPr>
              <p:cNvPr id="7" name="Freeform 9"/>
              <p:cNvSpPr>
                <a:spLocks/>
              </p:cNvSpPr>
              <p:nvPr/>
            </p:nvSpPr>
            <p:spPr bwMode="auto">
              <a:xfrm>
                <a:off x="2858163" y="10344853"/>
                <a:ext cx="14016673" cy="1553460"/>
              </a:xfrm>
              <a:custGeom>
                <a:avLst/>
                <a:gdLst>
                  <a:gd name="T0" fmla="*/ 784 w 5522"/>
                  <a:gd name="T1" fmla="*/ 572 h 612"/>
                  <a:gd name="T2" fmla="*/ 784 w 5522"/>
                  <a:gd name="T3" fmla="*/ 0 h 612"/>
                  <a:gd name="T4" fmla="*/ 0 w 5522"/>
                  <a:gd name="T5" fmla="*/ 0 h 612"/>
                  <a:gd name="T6" fmla="*/ 0 w 5522"/>
                  <a:gd name="T7" fmla="*/ 40 h 612"/>
                  <a:gd name="T8" fmla="*/ 744 w 5522"/>
                  <a:gd name="T9" fmla="*/ 40 h 612"/>
                  <a:gd name="T10" fmla="*/ 744 w 5522"/>
                  <a:gd name="T11" fmla="*/ 612 h 612"/>
                  <a:gd name="T12" fmla="*/ 5522 w 5522"/>
                  <a:gd name="T13" fmla="*/ 612 h 612"/>
                  <a:gd name="T14" fmla="*/ 5522 w 5522"/>
                  <a:gd name="T15" fmla="*/ 572 h 612"/>
                  <a:gd name="T16" fmla="*/ 784 w 5522"/>
                  <a:gd name="T17" fmla="*/ 572 h 6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22" h="612">
                    <a:moveTo>
                      <a:pt x="784" y="572"/>
                    </a:moveTo>
                    <a:lnTo>
                      <a:pt x="784" y="0"/>
                    </a:lnTo>
                    <a:lnTo>
                      <a:pt x="0" y="0"/>
                    </a:lnTo>
                    <a:lnTo>
                      <a:pt x="0" y="40"/>
                    </a:lnTo>
                    <a:lnTo>
                      <a:pt x="744" y="40"/>
                    </a:lnTo>
                    <a:lnTo>
                      <a:pt x="744" y="612"/>
                    </a:lnTo>
                    <a:lnTo>
                      <a:pt x="5522" y="612"/>
                    </a:lnTo>
                    <a:lnTo>
                      <a:pt x="5522" y="572"/>
                    </a:lnTo>
                    <a:lnTo>
                      <a:pt x="784" y="57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AU" dirty="0"/>
              </a:p>
            </p:txBody>
          </p:sp>
          <p:sp>
            <p:nvSpPr>
              <p:cNvPr id="8" name="Freeform 12"/>
              <p:cNvSpPr>
                <a:spLocks/>
              </p:cNvSpPr>
              <p:nvPr/>
            </p:nvSpPr>
            <p:spPr bwMode="auto">
              <a:xfrm>
                <a:off x="16874835" y="11791950"/>
                <a:ext cx="7502815" cy="106363"/>
              </a:xfrm>
              <a:custGeom>
                <a:avLst/>
                <a:gdLst>
                  <a:gd name="connsiteX0" fmla="*/ 0 w 3042086"/>
                  <a:gd name="connsiteY0" fmla="*/ 0 h 101533"/>
                  <a:gd name="connsiteX1" fmla="*/ 3042086 w 3042086"/>
                  <a:gd name="connsiteY1" fmla="*/ 0 h 101533"/>
                  <a:gd name="connsiteX2" fmla="*/ 3042086 w 3042086"/>
                  <a:gd name="connsiteY2" fmla="*/ 101533 h 101533"/>
                  <a:gd name="connsiteX3" fmla="*/ 0 w 3042086"/>
                  <a:gd name="connsiteY3" fmla="*/ 101533 h 101533"/>
                </a:gdLst>
                <a:ahLst/>
                <a:cxnLst>
                  <a:cxn ang="0">
                    <a:pos x="connsiteX0" y="connsiteY0"/>
                  </a:cxn>
                  <a:cxn ang="0">
                    <a:pos x="connsiteX1" y="connsiteY1"/>
                  </a:cxn>
                  <a:cxn ang="0">
                    <a:pos x="connsiteX2" y="connsiteY2"/>
                  </a:cxn>
                  <a:cxn ang="0">
                    <a:pos x="connsiteX3" y="connsiteY3"/>
                  </a:cxn>
                </a:cxnLst>
                <a:rect l="l" t="t" r="r" b="b"/>
                <a:pathLst>
                  <a:path w="3042086" h="101533">
                    <a:moveTo>
                      <a:pt x="0" y="0"/>
                    </a:moveTo>
                    <a:lnTo>
                      <a:pt x="3042086" y="0"/>
                    </a:lnTo>
                    <a:lnTo>
                      <a:pt x="3042086" y="101533"/>
                    </a:lnTo>
                    <a:lnTo>
                      <a:pt x="0" y="10153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AU" dirty="0"/>
              </a:p>
            </p:txBody>
          </p:sp>
        </p:grpSp>
      </p:grpSp>
      <p:sp>
        <p:nvSpPr>
          <p:cNvPr id="39" name="文本框 38"/>
          <p:cNvSpPr txBox="1"/>
          <p:nvPr/>
        </p:nvSpPr>
        <p:spPr>
          <a:xfrm>
            <a:off x="2903544" y="1752520"/>
            <a:ext cx="4327869" cy="2827697"/>
          </a:xfrm>
          <a:prstGeom prst="rect">
            <a:avLst/>
          </a:prstGeom>
          <a:noFill/>
        </p:spPr>
        <p:txBody>
          <a:bodyPr wrap="square" rtlCol="0">
            <a:spAutoFit/>
          </a:bodyPr>
          <a:lstStyle/>
          <a:p>
            <a:pPr defTabSz="1216817">
              <a:lnSpc>
                <a:spcPct val="120000"/>
              </a:lnSpc>
              <a:spcBef>
                <a:spcPct val="20000"/>
              </a:spcBef>
            </a:pPr>
            <a:r>
              <a:rPr lang="zh-CN" altLang="en-US" sz="1400" b="1" dirty="0">
                <a:solidFill>
                  <a:schemeClr val="bg1"/>
                </a:solidFill>
                <a:cs typeface="+mn-ea"/>
                <a:sym typeface="+mn-lt"/>
              </a:rPr>
              <a:t>数据分布：数据存储在不同的节点上，实现数据的横向扩展，避免单一节点性能瓶颈。</a:t>
            </a:r>
          </a:p>
          <a:p>
            <a:pPr defTabSz="1216817">
              <a:lnSpc>
                <a:spcPct val="120000"/>
              </a:lnSpc>
              <a:spcBef>
                <a:spcPct val="20000"/>
              </a:spcBef>
            </a:pPr>
            <a:r>
              <a:rPr lang="zh-CN" altLang="en-US" sz="1400" b="1" dirty="0">
                <a:solidFill>
                  <a:schemeClr val="bg1"/>
                </a:solidFill>
                <a:cs typeface="+mn-ea"/>
                <a:sym typeface="+mn-lt"/>
              </a:rPr>
              <a:t>高可用性：通过多节点冗余，保证当一个或多个节点发生故障时，系统仍然可以正常运行。</a:t>
            </a:r>
          </a:p>
          <a:p>
            <a:pPr defTabSz="1216817">
              <a:lnSpc>
                <a:spcPct val="120000"/>
              </a:lnSpc>
              <a:spcBef>
                <a:spcPct val="20000"/>
              </a:spcBef>
            </a:pPr>
            <a:r>
              <a:rPr lang="zh-CN" altLang="en-US" sz="1400" b="1" dirty="0">
                <a:solidFill>
                  <a:schemeClr val="bg1"/>
                </a:solidFill>
                <a:cs typeface="+mn-ea"/>
                <a:sym typeface="+mn-lt"/>
              </a:rPr>
              <a:t>容错性：支持节点间的自动故障转移、数据恢复和负载均衡。</a:t>
            </a:r>
          </a:p>
          <a:p>
            <a:pPr defTabSz="1216817">
              <a:lnSpc>
                <a:spcPct val="120000"/>
              </a:lnSpc>
              <a:spcBef>
                <a:spcPct val="20000"/>
              </a:spcBef>
            </a:pPr>
            <a:r>
              <a:rPr lang="zh-CN" altLang="en-US" sz="1400" b="1" dirty="0">
                <a:solidFill>
                  <a:schemeClr val="bg1"/>
                </a:solidFill>
                <a:cs typeface="+mn-ea"/>
                <a:sym typeface="+mn-lt"/>
              </a:rPr>
              <a:t>数据一致性：通过分布式一致性协议（如 </a:t>
            </a:r>
            <a:r>
              <a:rPr lang="en-US" altLang="zh-CN" sz="1400" b="1" dirty="0" err="1">
                <a:solidFill>
                  <a:schemeClr val="bg1"/>
                </a:solidFill>
                <a:cs typeface="+mn-ea"/>
                <a:sym typeface="+mn-lt"/>
              </a:rPr>
              <a:t>Paxos</a:t>
            </a:r>
            <a:r>
              <a:rPr lang="zh-CN" altLang="en-US" sz="1400" b="1" dirty="0">
                <a:solidFill>
                  <a:schemeClr val="bg1"/>
                </a:solidFill>
                <a:cs typeface="+mn-ea"/>
                <a:sym typeface="+mn-lt"/>
              </a:rPr>
              <a:t>、</a:t>
            </a:r>
            <a:r>
              <a:rPr lang="en-US" altLang="zh-CN" sz="1400" b="1" dirty="0">
                <a:solidFill>
                  <a:schemeClr val="bg1"/>
                </a:solidFill>
                <a:cs typeface="+mn-ea"/>
                <a:sym typeface="+mn-lt"/>
              </a:rPr>
              <a:t>Raft</a:t>
            </a:r>
            <a:r>
              <a:rPr lang="zh-CN" altLang="en-US" sz="1400" b="1" dirty="0">
                <a:solidFill>
                  <a:schemeClr val="bg1"/>
                </a:solidFill>
                <a:cs typeface="+mn-ea"/>
                <a:sym typeface="+mn-lt"/>
              </a:rPr>
              <a:t>）来保证各节点之间的数据一致性。</a:t>
            </a:r>
          </a:p>
          <a:p>
            <a:pPr defTabSz="1216817">
              <a:lnSpc>
                <a:spcPct val="120000"/>
              </a:lnSpc>
              <a:spcBef>
                <a:spcPct val="20000"/>
              </a:spcBef>
            </a:pPr>
            <a:r>
              <a:rPr lang="zh-CN" altLang="en-US" sz="1400" b="1" dirty="0">
                <a:solidFill>
                  <a:schemeClr val="bg1"/>
                </a:solidFill>
                <a:cs typeface="+mn-ea"/>
                <a:sym typeface="+mn-lt"/>
              </a:rPr>
              <a:t>扩展性：分布式数据库允许根据业务需求动态增加或减少节点，以应对不同的负载需求。</a:t>
            </a:r>
            <a:endParaRPr lang="en-US" altLang="zh-CN" sz="1400" b="1" dirty="0">
              <a:solidFill>
                <a:schemeClr val="bg1"/>
              </a:solidFill>
              <a:cs typeface="+mn-ea"/>
              <a:sym typeface="+mn-lt"/>
            </a:endParaRPr>
          </a:p>
        </p:txBody>
      </p:sp>
      <p:sp>
        <p:nvSpPr>
          <p:cNvPr id="74" name="文本框 73"/>
          <p:cNvSpPr txBox="1"/>
          <p:nvPr/>
        </p:nvSpPr>
        <p:spPr>
          <a:xfrm>
            <a:off x="3844145" y="317918"/>
            <a:ext cx="4480560" cy="461665"/>
          </a:xfrm>
          <a:prstGeom prst="rect">
            <a:avLst/>
          </a:prstGeom>
          <a:noFill/>
        </p:spPr>
        <p:txBody>
          <a:bodyPr wrap="square" rtlCol="0">
            <a:spAutoFit/>
          </a:bodyPr>
          <a:lstStyle/>
          <a:p>
            <a:pPr algn="ctr"/>
            <a:r>
              <a:rPr lang="zh-CN" altLang="en-US" sz="2400" b="1" dirty="0">
                <a:solidFill>
                  <a:schemeClr val="bg1"/>
                </a:solidFill>
                <a:latin typeface="+mj-ea"/>
                <a:ea typeface="+mj-ea"/>
              </a:rPr>
              <a:t>分布式数据库的特点</a:t>
            </a:r>
          </a:p>
        </p:txBody>
      </p:sp>
      <p:pic>
        <p:nvPicPr>
          <p:cNvPr id="10" name="图片 9">
            <a:extLst>
              <a:ext uri="{FF2B5EF4-FFF2-40B4-BE49-F238E27FC236}">
                <a16:creationId xmlns:a16="http://schemas.microsoft.com/office/drawing/2014/main" id="{7D90DF7A-B653-7A24-2392-CB8BEEE88C40}"/>
              </a:ext>
            </a:extLst>
          </p:cNvPr>
          <p:cNvPicPr>
            <a:picLocks noChangeAspect="1"/>
          </p:cNvPicPr>
          <p:nvPr/>
        </p:nvPicPr>
        <p:blipFill>
          <a:blip r:embed="rId4"/>
          <a:stretch>
            <a:fillRect/>
          </a:stretch>
        </p:blipFill>
        <p:spPr>
          <a:xfrm>
            <a:off x="7431585" y="1814075"/>
            <a:ext cx="4327869" cy="2766142"/>
          </a:xfrm>
          <a:prstGeom prst="rect">
            <a:avLst/>
          </a:prstGeom>
        </p:spPr>
      </p:pic>
    </p:spTree>
    <p:extLst>
      <p:ext uri="{BB962C8B-B14F-4D97-AF65-F5344CB8AC3E}">
        <p14:creationId xmlns:p14="http://schemas.microsoft.com/office/powerpoint/2010/main" val="370669057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文本框 38"/>
          <p:cNvSpPr txBox="1"/>
          <p:nvPr/>
        </p:nvSpPr>
        <p:spPr>
          <a:xfrm>
            <a:off x="758738" y="1454998"/>
            <a:ext cx="4327869" cy="3948004"/>
          </a:xfrm>
          <a:prstGeom prst="rect">
            <a:avLst/>
          </a:prstGeom>
          <a:noFill/>
        </p:spPr>
        <p:txBody>
          <a:bodyPr wrap="square" rtlCol="0">
            <a:spAutoFit/>
          </a:bodyPr>
          <a:lstStyle/>
          <a:p>
            <a:pPr defTabSz="1216817">
              <a:lnSpc>
                <a:spcPct val="120000"/>
              </a:lnSpc>
              <a:spcBef>
                <a:spcPct val="20000"/>
              </a:spcBef>
            </a:pPr>
            <a:r>
              <a:rPr lang="zh-CN" altLang="en-US" sz="1400" b="1" dirty="0">
                <a:solidFill>
                  <a:schemeClr val="bg1"/>
                </a:solidFill>
                <a:cs typeface="+mn-ea"/>
                <a:sym typeface="+mn-lt"/>
              </a:rPr>
              <a:t>一致性 </a:t>
            </a:r>
            <a:r>
              <a:rPr lang="en-US" altLang="zh-CN" sz="1400" b="1" dirty="0">
                <a:solidFill>
                  <a:schemeClr val="bg1"/>
                </a:solidFill>
                <a:cs typeface="+mn-ea"/>
                <a:sym typeface="+mn-lt"/>
              </a:rPr>
              <a:t>vs. </a:t>
            </a:r>
            <a:r>
              <a:rPr lang="zh-CN" altLang="en-US" sz="1400" b="1" dirty="0">
                <a:solidFill>
                  <a:schemeClr val="bg1"/>
                </a:solidFill>
                <a:cs typeface="+mn-ea"/>
                <a:sym typeface="+mn-lt"/>
              </a:rPr>
              <a:t>可用性：根据 </a:t>
            </a:r>
            <a:r>
              <a:rPr lang="en-US" altLang="zh-CN" sz="1400" b="1" dirty="0">
                <a:solidFill>
                  <a:schemeClr val="bg1"/>
                </a:solidFill>
                <a:cs typeface="+mn-ea"/>
                <a:sym typeface="+mn-lt"/>
              </a:rPr>
              <a:t>CAP </a:t>
            </a:r>
            <a:r>
              <a:rPr lang="zh-CN" altLang="en-US" sz="1400" b="1" dirty="0">
                <a:solidFill>
                  <a:schemeClr val="bg1"/>
                </a:solidFill>
                <a:cs typeface="+mn-ea"/>
                <a:sym typeface="+mn-lt"/>
              </a:rPr>
              <a:t>定理，分布式系统必须在一致性、可用性、分区容错性之间做出权衡，无法同时完全满足三者。</a:t>
            </a:r>
            <a:endParaRPr lang="en-US" altLang="zh-CN" sz="1400" b="1" dirty="0">
              <a:solidFill>
                <a:schemeClr val="bg1"/>
              </a:solidFill>
              <a:cs typeface="+mn-ea"/>
              <a:sym typeface="+mn-lt"/>
            </a:endParaRPr>
          </a:p>
          <a:p>
            <a:pPr defTabSz="1216817">
              <a:lnSpc>
                <a:spcPct val="120000"/>
              </a:lnSpc>
              <a:spcBef>
                <a:spcPct val="20000"/>
              </a:spcBef>
            </a:pPr>
            <a:endParaRPr lang="zh-CN" altLang="en-US" sz="1400" b="1" dirty="0">
              <a:solidFill>
                <a:schemeClr val="bg1"/>
              </a:solidFill>
              <a:cs typeface="+mn-ea"/>
              <a:sym typeface="+mn-lt"/>
            </a:endParaRPr>
          </a:p>
          <a:p>
            <a:pPr defTabSz="1216817">
              <a:lnSpc>
                <a:spcPct val="120000"/>
              </a:lnSpc>
              <a:spcBef>
                <a:spcPct val="20000"/>
              </a:spcBef>
            </a:pPr>
            <a:r>
              <a:rPr lang="zh-CN" altLang="en-US" sz="1400" b="1" dirty="0">
                <a:solidFill>
                  <a:schemeClr val="bg1"/>
                </a:solidFill>
                <a:cs typeface="+mn-ea"/>
                <a:sym typeface="+mn-lt"/>
              </a:rPr>
              <a:t>网络延迟：节点之间的通信依赖网络，网络延迟可能影响数据库操作的实时性。</a:t>
            </a:r>
            <a:endParaRPr lang="en-US" altLang="zh-CN" sz="1400" b="1" dirty="0">
              <a:solidFill>
                <a:schemeClr val="bg1"/>
              </a:solidFill>
              <a:cs typeface="+mn-ea"/>
              <a:sym typeface="+mn-lt"/>
            </a:endParaRPr>
          </a:p>
          <a:p>
            <a:pPr defTabSz="1216817">
              <a:lnSpc>
                <a:spcPct val="120000"/>
              </a:lnSpc>
              <a:spcBef>
                <a:spcPct val="20000"/>
              </a:spcBef>
            </a:pPr>
            <a:endParaRPr lang="zh-CN" altLang="en-US" sz="1400" b="1" dirty="0">
              <a:solidFill>
                <a:schemeClr val="bg1"/>
              </a:solidFill>
              <a:cs typeface="+mn-ea"/>
              <a:sym typeface="+mn-lt"/>
            </a:endParaRPr>
          </a:p>
          <a:p>
            <a:pPr defTabSz="1216817">
              <a:lnSpc>
                <a:spcPct val="120000"/>
              </a:lnSpc>
              <a:spcBef>
                <a:spcPct val="20000"/>
              </a:spcBef>
            </a:pPr>
            <a:r>
              <a:rPr lang="zh-CN" altLang="en-US" sz="1400" b="1" dirty="0">
                <a:solidFill>
                  <a:schemeClr val="bg1"/>
                </a:solidFill>
                <a:cs typeface="+mn-ea"/>
                <a:sym typeface="+mn-lt"/>
              </a:rPr>
              <a:t>复杂性：分布式系统中节点数量众多，管理和维护复杂度较高，尤其在数据一致性、数据分区和节点故障处理上需要特殊设计。</a:t>
            </a:r>
            <a:endParaRPr lang="en-US" altLang="zh-CN" sz="1400" b="1" dirty="0">
              <a:solidFill>
                <a:schemeClr val="bg1"/>
              </a:solidFill>
              <a:cs typeface="+mn-ea"/>
              <a:sym typeface="+mn-lt"/>
            </a:endParaRPr>
          </a:p>
          <a:p>
            <a:pPr defTabSz="1216817">
              <a:lnSpc>
                <a:spcPct val="120000"/>
              </a:lnSpc>
              <a:spcBef>
                <a:spcPct val="20000"/>
              </a:spcBef>
            </a:pPr>
            <a:endParaRPr lang="zh-CN" altLang="en-US" sz="1400" b="1" dirty="0">
              <a:solidFill>
                <a:schemeClr val="bg1"/>
              </a:solidFill>
              <a:cs typeface="+mn-ea"/>
              <a:sym typeface="+mn-lt"/>
            </a:endParaRPr>
          </a:p>
          <a:p>
            <a:pPr defTabSz="1216817">
              <a:lnSpc>
                <a:spcPct val="120000"/>
              </a:lnSpc>
              <a:spcBef>
                <a:spcPct val="20000"/>
              </a:spcBef>
            </a:pPr>
            <a:r>
              <a:rPr lang="zh-CN" altLang="en-US" sz="1400" b="1" dirty="0">
                <a:solidFill>
                  <a:schemeClr val="bg1"/>
                </a:solidFill>
                <a:cs typeface="+mn-ea"/>
                <a:sym typeface="+mn-lt"/>
              </a:rPr>
              <a:t>分布式事务：在多节点环境下保证事务的原子性和隔离性变得更加困难，需要特殊的协议如 </a:t>
            </a:r>
            <a:r>
              <a:rPr lang="en-US" altLang="zh-CN" sz="1400" b="1" dirty="0">
                <a:solidFill>
                  <a:schemeClr val="bg1"/>
                </a:solidFill>
                <a:cs typeface="+mn-ea"/>
                <a:sym typeface="+mn-lt"/>
              </a:rPr>
              <a:t>2PC</a:t>
            </a:r>
            <a:r>
              <a:rPr lang="zh-CN" altLang="en-US" sz="1400" b="1" dirty="0">
                <a:solidFill>
                  <a:schemeClr val="bg1"/>
                </a:solidFill>
                <a:cs typeface="+mn-ea"/>
                <a:sym typeface="+mn-lt"/>
              </a:rPr>
              <a:t>（两阶段提交）或 </a:t>
            </a:r>
            <a:r>
              <a:rPr lang="en-US" altLang="zh-CN" sz="1400" b="1" dirty="0">
                <a:solidFill>
                  <a:schemeClr val="bg1"/>
                </a:solidFill>
                <a:cs typeface="+mn-ea"/>
                <a:sym typeface="+mn-lt"/>
              </a:rPr>
              <a:t>3PC</a:t>
            </a:r>
            <a:r>
              <a:rPr lang="zh-CN" altLang="en-US" sz="1400" b="1" dirty="0">
                <a:solidFill>
                  <a:schemeClr val="bg1"/>
                </a:solidFill>
                <a:cs typeface="+mn-ea"/>
                <a:sym typeface="+mn-lt"/>
              </a:rPr>
              <a:t>（三阶段提交）。</a:t>
            </a:r>
            <a:endParaRPr lang="en-US" altLang="zh-CN" sz="1400" b="1" dirty="0">
              <a:solidFill>
                <a:schemeClr val="bg1"/>
              </a:solidFill>
              <a:cs typeface="+mn-ea"/>
              <a:sym typeface="+mn-lt"/>
            </a:endParaRPr>
          </a:p>
        </p:txBody>
      </p:sp>
      <p:sp>
        <p:nvSpPr>
          <p:cNvPr id="74" name="文本框 73"/>
          <p:cNvSpPr txBox="1"/>
          <p:nvPr/>
        </p:nvSpPr>
        <p:spPr>
          <a:xfrm>
            <a:off x="3844145" y="317918"/>
            <a:ext cx="4480560" cy="461665"/>
          </a:xfrm>
          <a:prstGeom prst="rect">
            <a:avLst/>
          </a:prstGeom>
          <a:noFill/>
        </p:spPr>
        <p:txBody>
          <a:bodyPr wrap="square" rtlCol="0">
            <a:spAutoFit/>
          </a:bodyPr>
          <a:lstStyle/>
          <a:p>
            <a:pPr algn="ctr"/>
            <a:r>
              <a:rPr lang="zh-CN" altLang="en-US" sz="2400" b="1" dirty="0">
                <a:solidFill>
                  <a:schemeClr val="bg1"/>
                </a:solidFill>
                <a:latin typeface="+mj-ea"/>
                <a:ea typeface="+mj-ea"/>
              </a:rPr>
              <a:t>分布式数据库的挑战</a:t>
            </a:r>
          </a:p>
        </p:txBody>
      </p:sp>
      <p:pic>
        <p:nvPicPr>
          <p:cNvPr id="11" name="图片 10">
            <a:extLst>
              <a:ext uri="{FF2B5EF4-FFF2-40B4-BE49-F238E27FC236}">
                <a16:creationId xmlns:a16="http://schemas.microsoft.com/office/drawing/2014/main" id="{4AF760FA-1548-2997-2DE8-F7D90F7BAC95}"/>
              </a:ext>
            </a:extLst>
          </p:cNvPr>
          <p:cNvPicPr>
            <a:picLocks noChangeAspect="1"/>
          </p:cNvPicPr>
          <p:nvPr/>
        </p:nvPicPr>
        <p:blipFill>
          <a:blip r:embed="rId3"/>
          <a:stretch>
            <a:fillRect/>
          </a:stretch>
        </p:blipFill>
        <p:spPr>
          <a:xfrm>
            <a:off x="6029899" y="1641437"/>
            <a:ext cx="5403363" cy="3475356"/>
          </a:xfrm>
          <a:prstGeom prst="rect">
            <a:avLst/>
          </a:prstGeom>
        </p:spPr>
      </p:pic>
    </p:spTree>
    <p:extLst>
      <p:ext uri="{BB962C8B-B14F-4D97-AF65-F5344CB8AC3E}">
        <p14:creationId xmlns:p14="http://schemas.microsoft.com/office/powerpoint/2010/main" val="386097331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等腰三角形 2"/>
          <p:cNvSpPr/>
          <p:nvPr/>
        </p:nvSpPr>
        <p:spPr>
          <a:xfrm rot="16200000" flipV="1">
            <a:off x="-316629" y="1426842"/>
            <a:ext cx="4630086" cy="3991456"/>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p:cNvSpPr/>
          <p:nvPr/>
        </p:nvSpPr>
        <p:spPr>
          <a:xfrm rot="16200000" flipH="1" flipV="1">
            <a:off x="803610" y="5456558"/>
            <a:ext cx="1931640" cy="1665208"/>
          </a:xfrm>
          <a:prstGeom prst="triangl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等腰三角形 4"/>
          <p:cNvSpPr/>
          <p:nvPr/>
        </p:nvSpPr>
        <p:spPr>
          <a:xfrm rot="16200000" flipH="1">
            <a:off x="2586755" y="1826415"/>
            <a:ext cx="1511638" cy="1303136"/>
          </a:xfrm>
          <a:prstGeom prst="triangl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等腰三角形 5"/>
          <p:cNvSpPr/>
          <p:nvPr/>
        </p:nvSpPr>
        <p:spPr>
          <a:xfrm rot="16200000" flipH="1">
            <a:off x="-705677" y="902094"/>
            <a:ext cx="1160005" cy="1000004"/>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p:nvSpPr>
        <p:spPr>
          <a:xfrm rot="16200000" flipH="1">
            <a:off x="691643" y="500873"/>
            <a:ext cx="881342" cy="759777"/>
          </a:xfrm>
          <a:prstGeom prst="triangle">
            <a:avLst/>
          </a:prstGeom>
          <a:noFill/>
          <a:ln w="28575">
            <a:solidFill>
              <a:srgbClr val="E62D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p:nvSpPr>
        <p:spPr>
          <a:xfrm rot="16200000" flipH="1">
            <a:off x="-300255" y="5881715"/>
            <a:ext cx="628989" cy="542232"/>
          </a:xfrm>
          <a:prstGeom prst="triangle">
            <a:avLst/>
          </a:prstGeom>
          <a:noFill/>
          <a:ln w="28575">
            <a:solidFill>
              <a:srgbClr val="E62D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p:nvSpPr>
        <p:spPr>
          <a:xfrm rot="16200000" flipH="1">
            <a:off x="1320310" y="7399925"/>
            <a:ext cx="350641" cy="302277"/>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rot="16200000" flipH="1" flipV="1">
            <a:off x="1488021" y="-668880"/>
            <a:ext cx="350641" cy="302277"/>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rot="16200000" flipH="1" flipV="1">
            <a:off x="3912597" y="5855572"/>
            <a:ext cx="249918" cy="215446"/>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p:nvSpPr>
        <p:spPr>
          <a:xfrm rot="16200000" flipH="1">
            <a:off x="-680788" y="-585350"/>
            <a:ext cx="1037711" cy="894578"/>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p:nvSpPr>
        <p:spPr>
          <a:xfrm rot="16200000" flipH="1" flipV="1">
            <a:off x="-1151942" y="-844201"/>
            <a:ext cx="350641" cy="302277"/>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4239" y="1863220"/>
            <a:ext cx="2496342" cy="3154710"/>
          </a:xfrm>
          <a:prstGeom prst="rect">
            <a:avLst/>
          </a:prstGeom>
          <a:noFill/>
        </p:spPr>
        <p:txBody>
          <a:bodyPr wrap="square" rtlCol="0">
            <a:spAutoFit/>
          </a:bodyPr>
          <a:lstStyle/>
          <a:p>
            <a:pPr algn="ctr"/>
            <a:r>
              <a:rPr lang="en-US" altLang="zh-CN" sz="19900" dirty="0">
                <a:solidFill>
                  <a:schemeClr val="bg1"/>
                </a:solidFill>
                <a:latin typeface="张海山锐谐体" panose="02000000000000000000" pitchFamily="2" charset="-122"/>
                <a:ea typeface="张海山锐谐体" panose="02000000000000000000" pitchFamily="2" charset="-122"/>
              </a:rPr>
              <a:t>2</a:t>
            </a:r>
            <a:endParaRPr lang="zh-CN" altLang="en-US" sz="19900" dirty="0">
              <a:solidFill>
                <a:schemeClr val="bg1"/>
              </a:solidFill>
              <a:latin typeface="张海山锐谐体" panose="02000000000000000000" pitchFamily="2" charset="-122"/>
              <a:ea typeface="张海山锐谐体" panose="02000000000000000000" pitchFamily="2" charset="-122"/>
            </a:endParaRPr>
          </a:p>
        </p:txBody>
      </p:sp>
      <p:sp>
        <p:nvSpPr>
          <p:cNvPr id="15" name="文本框 14"/>
          <p:cNvSpPr txBox="1"/>
          <p:nvPr/>
        </p:nvSpPr>
        <p:spPr>
          <a:xfrm>
            <a:off x="4827259" y="2060459"/>
            <a:ext cx="6447005" cy="584775"/>
          </a:xfrm>
          <a:prstGeom prst="rect">
            <a:avLst/>
          </a:prstGeom>
          <a:noFill/>
        </p:spPr>
        <p:txBody>
          <a:bodyPr wrap="square" rtlCol="0">
            <a:spAutoFit/>
          </a:bodyPr>
          <a:lstStyle/>
          <a:p>
            <a:r>
              <a:rPr lang="en-US" altLang="zh-CN" sz="3200" dirty="0">
                <a:solidFill>
                  <a:schemeClr val="bg1"/>
                </a:solidFill>
                <a:latin typeface="张海山锐谐体" panose="02000000000000000000" pitchFamily="2" charset="-122"/>
                <a:ea typeface="张海山锐谐体" panose="02000000000000000000" pitchFamily="2" charset="-122"/>
              </a:rPr>
              <a:t>MySQL </a:t>
            </a:r>
            <a:r>
              <a:rPr lang="zh-CN" altLang="en-US" sz="3200" dirty="0">
                <a:solidFill>
                  <a:schemeClr val="bg1"/>
                </a:solidFill>
                <a:latin typeface="张海山锐谐体" panose="02000000000000000000" pitchFamily="2" charset="-122"/>
                <a:ea typeface="张海山锐谐体" panose="02000000000000000000" pitchFamily="2" charset="-122"/>
              </a:rPr>
              <a:t>的分布式部署与架构设计</a:t>
            </a:r>
          </a:p>
        </p:txBody>
      </p:sp>
      <p:sp>
        <p:nvSpPr>
          <p:cNvPr id="16" name="文本框 15"/>
          <p:cNvSpPr txBox="1"/>
          <p:nvPr/>
        </p:nvSpPr>
        <p:spPr>
          <a:xfrm>
            <a:off x="4928283" y="3089060"/>
            <a:ext cx="5928963" cy="147732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solidFill>
                  <a:schemeClr val="bg1"/>
                </a:solidFill>
              </a:rPr>
              <a:t>MySQL </a:t>
            </a:r>
            <a:r>
              <a:rPr lang="zh-CN" altLang="en-US" dirty="0">
                <a:solidFill>
                  <a:schemeClr val="bg1"/>
                </a:solidFill>
              </a:rPr>
              <a:t>主从架构（</a:t>
            </a:r>
            <a:r>
              <a:rPr lang="en-US" altLang="zh-CN" dirty="0">
                <a:solidFill>
                  <a:schemeClr val="bg1"/>
                </a:solidFill>
              </a:rPr>
              <a:t>Master-Slave Replication</a:t>
            </a:r>
            <a:r>
              <a:rPr lang="zh-CN" altLang="en-US" dirty="0">
                <a:solidFill>
                  <a:schemeClr val="bg1"/>
                </a:solidFill>
              </a:rPr>
              <a:t>）是指在主数据库（</a:t>
            </a:r>
            <a:r>
              <a:rPr lang="en-US" altLang="zh-CN" dirty="0">
                <a:solidFill>
                  <a:schemeClr val="bg1"/>
                </a:solidFill>
              </a:rPr>
              <a:t>Master</a:t>
            </a:r>
            <a:r>
              <a:rPr lang="zh-CN" altLang="en-US" dirty="0">
                <a:solidFill>
                  <a:schemeClr val="bg1"/>
                </a:solidFill>
              </a:rPr>
              <a:t>）上进行写操作，写入的数据会被复制到从数据库（</a:t>
            </a:r>
            <a:r>
              <a:rPr lang="en-US" altLang="zh-CN" dirty="0">
                <a:solidFill>
                  <a:schemeClr val="bg1"/>
                </a:solidFill>
              </a:rPr>
              <a:t>Slave</a:t>
            </a:r>
            <a:r>
              <a:rPr lang="zh-CN" altLang="en-US" dirty="0">
                <a:solidFill>
                  <a:schemeClr val="bg1"/>
                </a:solidFill>
              </a:rPr>
              <a:t>），从库主要用于读取数据。这样可以实现读写分离，通过增加从库节点来提升数据库系统的读性能。</a:t>
            </a:r>
            <a:endParaRPr lang="en-US" altLang="zh-CN" b="1" dirty="0">
              <a:solidFill>
                <a:schemeClr val="bg1"/>
              </a:solidFill>
              <a:cs typeface="+mn-ea"/>
              <a:sym typeface="+mn-lt"/>
            </a:endParaRPr>
          </a:p>
        </p:txBody>
      </p:sp>
      <p:sp>
        <p:nvSpPr>
          <p:cNvPr id="17" name="椭圆 16"/>
          <p:cNvSpPr/>
          <p:nvPr/>
        </p:nvSpPr>
        <p:spPr>
          <a:xfrm>
            <a:off x="3955794" y="3372667"/>
            <a:ext cx="99805" cy="99805"/>
          </a:xfrm>
          <a:prstGeom prst="ellipse">
            <a:avLst/>
          </a:prstGeom>
          <a:solidFill>
            <a:srgbClr val="E62D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2629550" y="2428079"/>
            <a:ext cx="99805" cy="9980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882989" y="5273439"/>
            <a:ext cx="99805" cy="9980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8585623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084457" y="1901214"/>
            <a:ext cx="4107543" cy="3860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p:cNvSpPr txBox="1"/>
          <p:nvPr/>
        </p:nvSpPr>
        <p:spPr>
          <a:xfrm>
            <a:off x="8324705" y="2830812"/>
            <a:ext cx="3617711" cy="1839671"/>
          </a:xfrm>
          <a:prstGeom prst="rect">
            <a:avLst/>
          </a:prstGeom>
          <a:noFill/>
        </p:spPr>
        <p:txBody>
          <a:bodyPr wrap="square" rtlCol="0">
            <a:spAutoFit/>
          </a:bodyPr>
          <a:lstStyle>
            <a:defPPr>
              <a:defRPr lang="zh-CN"/>
            </a:defPPr>
            <a:lvl1pPr algn="ctr">
              <a:defRPr sz="1600">
                <a:solidFill>
                  <a:schemeClr val="tx1">
                    <a:lumMod val="65000"/>
                    <a:lumOff val="35000"/>
                  </a:schemeClr>
                </a:solidFill>
                <a:latin typeface="+mj-lt"/>
              </a:defRPr>
            </a:lvl1pPr>
          </a:lstStyle>
          <a:p>
            <a:pPr algn="l" defTabSz="1216817">
              <a:lnSpc>
                <a:spcPct val="120000"/>
              </a:lnSpc>
              <a:spcBef>
                <a:spcPct val="20000"/>
              </a:spcBef>
            </a:pPr>
            <a:r>
              <a:rPr lang="zh-CN" altLang="en-US" b="1" dirty="0">
                <a:solidFill>
                  <a:schemeClr val="bg1"/>
                </a:solidFill>
                <a:cs typeface="+mn-ea"/>
                <a:sym typeface="+mn-lt"/>
              </a:rPr>
              <a:t>当主库接收到写请求时，它会将数据的变更操作（如 </a:t>
            </a:r>
            <a:r>
              <a:rPr lang="en-US" altLang="zh-CN" b="1" dirty="0">
                <a:solidFill>
                  <a:schemeClr val="bg1"/>
                </a:solidFill>
                <a:cs typeface="+mn-ea"/>
                <a:sym typeface="+mn-lt"/>
              </a:rPr>
              <a:t>INSERT</a:t>
            </a:r>
            <a:r>
              <a:rPr lang="zh-CN" altLang="en-US" b="1" dirty="0">
                <a:solidFill>
                  <a:schemeClr val="bg1"/>
                </a:solidFill>
                <a:cs typeface="+mn-ea"/>
                <a:sym typeface="+mn-lt"/>
              </a:rPr>
              <a:t>、</a:t>
            </a:r>
            <a:r>
              <a:rPr lang="en-US" altLang="zh-CN" b="1" dirty="0">
                <a:solidFill>
                  <a:schemeClr val="bg1"/>
                </a:solidFill>
                <a:cs typeface="+mn-ea"/>
                <a:sym typeface="+mn-lt"/>
              </a:rPr>
              <a:t>UPDATE</a:t>
            </a:r>
            <a:r>
              <a:rPr lang="zh-CN" altLang="en-US" b="1" dirty="0">
                <a:solidFill>
                  <a:schemeClr val="bg1"/>
                </a:solidFill>
                <a:cs typeface="+mn-ea"/>
                <a:sym typeface="+mn-lt"/>
              </a:rPr>
              <a:t>、</a:t>
            </a:r>
            <a:r>
              <a:rPr lang="en-US" altLang="zh-CN" b="1" dirty="0">
                <a:solidFill>
                  <a:schemeClr val="bg1"/>
                </a:solidFill>
                <a:cs typeface="+mn-ea"/>
                <a:sym typeface="+mn-lt"/>
              </a:rPr>
              <a:t>DELETE</a:t>
            </a:r>
            <a:r>
              <a:rPr lang="zh-CN" altLang="en-US" b="1" dirty="0">
                <a:solidFill>
                  <a:schemeClr val="bg1"/>
                </a:solidFill>
                <a:cs typeface="+mn-ea"/>
                <a:sym typeface="+mn-lt"/>
              </a:rPr>
              <a:t>）记录到 </a:t>
            </a:r>
            <a:r>
              <a:rPr lang="en-US" altLang="zh-CN" b="1" dirty="0" err="1">
                <a:solidFill>
                  <a:schemeClr val="bg1"/>
                </a:solidFill>
                <a:cs typeface="+mn-ea"/>
                <a:sym typeface="+mn-lt"/>
              </a:rPr>
              <a:t>Binlog</a:t>
            </a:r>
            <a:r>
              <a:rPr lang="zh-CN" altLang="en-US" b="1" dirty="0">
                <a:solidFill>
                  <a:schemeClr val="bg1"/>
                </a:solidFill>
                <a:cs typeface="+mn-ea"/>
                <a:sym typeface="+mn-lt"/>
              </a:rPr>
              <a:t>（二进制日志）中。</a:t>
            </a:r>
            <a:r>
              <a:rPr lang="en-US" altLang="zh-CN" b="1" dirty="0" err="1">
                <a:solidFill>
                  <a:schemeClr val="bg1"/>
                </a:solidFill>
                <a:cs typeface="+mn-ea"/>
                <a:sym typeface="+mn-lt"/>
              </a:rPr>
              <a:t>Binlog</a:t>
            </a:r>
            <a:r>
              <a:rPr lang="en-US" altLang="zh-CN" b="1" dirty="0">
                <a:solidFill>
                  <a:schemeClr val="bg1"/>
                </a:solidFill>
                <a:cs typeface="+mn-ea"/>
                <a:sym typeface="+mn-lt"/>
              </a:rPr>
              <a:t> </a:t>
            </a:r>
            <a:r>
              <a:rPr lang="zh-CN" altLang="en-US" b="1" dirty="0">
                <a:solidFill>
                  <a:schemeClr val="bg1"/>
                </a:solidFill>
                <a:cs typeface="+mn-ea"/>
                <a:sym typeface="+mn-lt"/>
              </a:rPr>
              <a:t>是主从复制的核心，所有从库都通过读取这个日志文件来同步主库的数据。</a:t>
            </a:r>
          </a:p>
        </p:txBody>
      </p:sp>
      <p:sp>
        <p:nvSpPr>
          <p:cNvPr id="11" name="文本框 10"/>
          <p:cNvSpPr txBox="1"/>
          <p:nvPr/>
        </p:nvSpPr>
        <p:spPr>
          <a:xfrm>
            <a:off x="3844145" y="317918"/>
            <a:ext cx="4480560" cy="461665"/>
          </a:xfrm>
          <a:prstGeom prst="rect">
            <a:avLst/>
          </a:prstGeom>
          <a:noFill/>
        </p:spPr>
        <p:txBody>
          <a:bodyPr wrap="square" rtlCol="0">
            <a:spAutoFit/>
          </a:bodyPr>
          <a:lstStyle/>
          <a:p>
            <a:pPr algn="ctr"/>
            <a:r>
              <a:rPr lang="zh-CN" altLang="en-US" sz="2400" b="1" dirty="0">
                <a:solidFill>
                  <a:schemeClr val="bg1"/>
                </a:solidFill>
                <a:latin typeface="+mj-ea"/>
                <a:ea typeface="+mj-ea"/>
              </a:rPr>
              <a:t>工作原理</a:t>
            </a:r>
          </a:p>
        </p:txBody>
      </p:sp>
      <p:sp>
        <p:nvSpPr>
          <p:cNvPr id="12" name="Shape 1376"/>
          <p:cNvSpPr/>
          <p:nvPr/>
        </p:nvSpPr>
        <p:spPr>
          <a:xfrm flipV="1">
            <a:off x="4755709" y="445042"/>
            <a:ext cx="532172" cy="59774"/>
          </a:xfrm>
          <a:prstGeom prst="roundRect">
            <a:avLst>
              <a:gd name="adj" fmla="val 50000"/>
            </a:avLst>
          </a:prstGeom>
          <a:solidFill>
            <a:schemeClr val="bg1"/>
          </a:solidFill>
          <a:ln>
            <a:noFill/>
          </a:ln>
        </p:spPr>
        <p:txBody>
          <a:bodyPr lIns="0" tIns="0" rIns="853425" bIns="0" anchor="ctr" anchorCtr="0">
            <a:noAutofit/>
          </a:bodyPr>
          <a:lstStyle/>
          <a:p>
            <a:pPr marL="0" marR="0" lvl="0" indent="0" algn="ctr" rtl="0">
              <a:spcBef>
                <a:spcPts val="0"/>
              </a:spcBef>
              <a:buSzPct val="25000"/>
              <a:buNone/>
            </a:pPr>
            <a:endParaRPr lang="id-ID" sz="1600" dirty="0">
              <a:solidFill>
                <a:schemeClr val="accent2"/>
              </a:solidFill>
              <a:latin typeface="+mj-ea"/>
              <a:ea typeface="+mj-ea"/>
              <a:cs typeface="Roboto"/>
              <a:sym typeface="Roboto"/>
            </a:endParaRPr>
          </a:p>
        </p:txBody>
      </p:sp>
      <p:sp>
        <p:nvSpPr>
          <p:cNvPr id="13" name="Shape 1376"/>
          <p:cNvSpPr/>
          <p:nvPr/>
        </p:nvSpPr>
        <p:spPr>
          <a:xfrm flipV="1">
            <a:off x="4410899" y="572998"/>
            <a:ext cx="746361" cy="90253"/>
          </a:xfrm>
          <a:prstGeom prst="roundRect">
            <a:avLst>
              <a:gd name="adj" fmla="val 50000"/>
            </a:avLst>
          </a:prstGeom>
          <a:solidFill>
            <a:schemeClr val="bg1"/>
          </a:solidFill>
          <a:ln>
            <a:noFill/>
          </a:ln>
        </p:spPr>
        <p:txBody>
          <a:bodyPr lIns="0" tIns="0" rIns="853425" bIns="0" anchor="ctr" anchorCtr="0">
            <a:noAutofit/>
          </a:bodyPr>
          <a:lstStyle/>
          <a:p>
            <a:pPr marL="0" marR="0" lvl="0" indent="0" algn="ctr" rtl="0">
              <a:spcBef>
                <a:spcPts val="0"/>
              </a:spcBef>
              <a:buSzPct val="25000"/>
              <a:buNone/>
            </a:pPr>
            <a:endParaRPr lang="id-ID" sz="1600" dirty="0">
              <a:solidFill>
                <a:schemeClr val="accent2"/>
              </a:solidFill>
              <a:latin typeface="+mj-ea"/>
              <a:ea typeface="+mj-ea"/>
              <a:cs typeface="Roboto"/>
              <a:sym typeface="Roboto"/>
            </a:endParaRPr>
          </a:p>
        </p:txBody>
      </p:sp>
      <p:grpSp>
        <p:nvGrpSpPr>
          <p:cNvPr id="14" name="组合 13"/>
          <p:cNvGrpSpPr/>
          <p:nvPr/>
        </p:nvGrpSpPr>
        <p:grpSpPr>
          <a:xfrm flipH="1">
            <a:off x="6846351" y="445042"/>
            <a:ext cx="876982" cy="218209"/>
            <a:chOff x="6834921" y="445042"/>
            <a:chExt cx="876982" cy="218209"/>
          </a:xfrm>
          <a:solidFill>
            <a:schemeClr val="bg1"/>
          </a:solidFill>
        </p:grpSpPr>
        <p:sp>
          <p:nvSpPr>
            <p:cNvPr id="15" name="Shape 1376"/>
            <p:cNvSpPr/>
            <p:nvPr/>
          </p:nvSpPr>
          <p:spPr>
            <a:xfrm flipV="1">
              <a:off x="7179731" y="445042"/>
              <a:ext cx="532172" cy="59774"/>
            </a:xfrm>
            <a:prstGeom prst="roundRect">
              <a:avLst>
                <a:gd name="adj" fmla="val 50000"/>
              </a:avLst>
            </a:prstGeom>
            <a:grpFill/>
            <a:ln>
              <a:noFill/>
            </a:ln>
          </p:spPr>
          <p:txBody>
            <a:bodyPr lIns="0" tIns="0" rIns="853425" bIns="0" anchor="ctr" anchorCtr="0">
              <a:noAutofit/>
            </a:bodyPr>
            <a:lstStyle/>
            <a:p>
              <a:pPr marL="0" marR="0" lvl="0" indent="0" algn="ctr" rtl="0">
                <a:spcBef>
                  <a:spcPts val="0"/>
                </a:spcBef>
                <a:buSzPct val="25000"/>
                <a:buNone/>
              </a:pPr>
              <a:endParaRPr lang="id-ID" sz="1600" dirty="0">
                <a:solidFill>
                  <a:schemeClr val="accent2"/>
                </a:solidFill>
                <a:latin typeface="+mj-ea"/>
                <a:ea typeface="+mj-ea"/>
                <a:cs typeface="Roboto"/>
                <a:sym typeface="Roboto"/>
              </a:endParaRPr>
            </a:p>
          </p:txBody>
        </p:sp>
        <p:sp>
          <p:nvSpPr>
            <p:cNvPr id="16" name="Shape 1376"/>
            <p:cNvSpPr/>
            <p:nvPr/>
          </p:nvSpPr>
          <p:spPr>
            <a:xfrm flipV="1">
              <a:off x="6834921" y="572998"/>
              <a:ext cx="746361" cy="90253"/>
            </a:xfrm>
            <a:prstGeom prst="roundRect">
              <a:avLst>
                <a:gd name="adj" fmla="val 50000"/>
              </a:avLst>
            </a:prstGeom>
            <a:grpFill/>
            <a:ln>
              <a:noFill/>
            </a:ln>
          </p:spPr>
          <p:txBody>
            <a:bodyPr lIns="0" tIns="0" rIns="853425" bIns="0" anchor="ctr" anchorCtr="0">
              <a:noAutofit/>
            </a:bodyPr>
            <a:lstStyle/>
            <a:p>
              <a:pPr marL="0" marR="0" lvl="0" indent="0" algn="ctr" rtl="0">
                <a:spcBef>
                  <a:spcPts val="0"/>
                </a:spcBef>
                <a:buSzPct val="25000"/>
                <a:buNone/>
              </a:pPr>
              <a:endParaRPr lang="id-ID" sz="1600" dirty="0">
                <a:solidFill>
                  <a:schemeClr val="accent2"/>
                </a:solidFill>
                <a:latin typeface="+mj-ea"/>
                <a:ea typeface="+mj-ea"/>
                <a:cs typeface="Roboto"/>
                <a:sym typeface="Roboto"/>
              </a:endParaRPr>
            </a:p>
          </p:txBody>
        </p:sp>
      </p:grpSp>
      <p:pic>
        <p:nvPicPr>
          <p:cNvPr id="6" name="图片 5">
            <a:extLst>
              <a:ext uri="{FF2B5EF4-FFF2-40B4-BE49-F238E27FC236}">
                <a16:creationId xmlns:a16="http://schemas.microsoft.com/office/drawing/2014/main" id="{04132413-32CF-17DB-8220-49777DC463CE}"/>
              </a:ext>
            </a:extLst>
          </p:cNvPr>
          <p:cNvPicPr>
            <a:picLocks noChangeAspect="1"/>
          </p:cNvPicPr>
          <p:nvPr/>
        </p:nvPicPr>
        <p:blipFill>
          <a:blip r:embed="rId2"/>
          <a:stretch>
            <a:fillRect/>
          </a:stretch>
        </p:blipFill>
        <p:spPr>
          <a:xfrm>
            <a:off x="164706" y="1843313"/>
            <a:ext cx="7889068" cy="3976603"/>
          </a:xfrm>
          <a:prstGeom prst="rect">
            <a:avLst/>
          </a:prstGeom>
        </p:spPr>
      </p:pic>
    </p:spTree>
    <p:extLst>
      <p:ext uri="{BB962C8B-B14F-4D97-AF65-F5344CB8AC3E}">
        <p14:creationId xmlns:p14="http://schemas.microsoft.com/office/powerpoint/2010/main" val="24427290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084457" y="1901214"/>
            <a:ext cx="4107543" cy="3860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p:cNvSpPr txBox="1"/>
          <p:nvPr/>
        </p:nvSpPr>
        <p:spPr>
          <a:xfrm>
            <a:off x="8324705" y="2171905"/>
            <a:ext cx="3617711" cy="3120021"/>
          </a:xfrm>
          <a:prstGeom prst="rect">
            <a:avLst/>
          </a:prstGeom>
          <a:noFill/>
        </p:spPr>
        <p:txBody>
          <a:bodyPr wrap="square" rtlCol="0">
            <a:spAutoFit/>
          </a:bodyPr>
          <a:lstStyle>
            <a:defPPr>
              <a:defRPr lang="zh-CN"/>
            </a:defPPr>
            <a:lvl1pPr algn="ctr">
              <a:defRPr sz="1600">
                <a:solidFill>
                  <a:schemeClr val="tx1">
                    <a:lumMod val="65000"/>
                    <a:lumOff val="35000"/>
                  </a:schemeClr>
                </a:solidFill>
                <a:latin typeface="+mj-lt"/>
              </a:defRPr>
            </a:lvl1pPr>
          </a:lstStyle>
          <a:p>
            <a:pPr algn="l" defTabSz="1216817">
              <a:lnSpc>
                <a:spcPct val="120000"/>
              </a:lnSpc>
              <a:spcBef>
                <a:spcPct val="20000"/>
              </a:spcBef>
            </a:pPr>
            <a:r>
              <a:rPr lang="zh-CN" altLang="en-US" b="1" dirty="0">
                <a:solidFill>
                  <a:schemeClr val="bg1"/>
                </a:solidFill>
                <a:cs typeface="+mn-ea"/>
                <a:sym typeface="+mn-lt"/>
              </a:rPr>
              <a:t>从库启动后，会连接主库并通过一个 </a:t>
            </a:r>
            <a:r>
              <a:rPr lang="en-US" altLang="zh-CN" b="1" dirty="0">
                <a:solidFill>
                  <a:schemeClr val="bg1"/>
                </a:solidFill>
                <a:cs typeface="+mn-ea"/>
                <a:sym typeface="+mn-lt"/>
              </a:rPr>
              <a:t>I/O </a:t>
            </a:r>
            <a:r>
              <a:rPr lang="zh-CN" altLang="en-US" b="1" dirty="0">
                <a:solidFill>
                  <a:schemeClr val="bg1"/>
                </a:solidFill>
                <a:cs typeface="+mn-ea"/>
                <a:sym typeface="+mn-lt"/>
              </a:rPr>
              <a:t>线程 向主库发送请求，要求读取 </a:t>
            </a:r>
            <a:r>
              <a:rPr lang="en-US" altLang="zh-CN" b="1" dirty="0" err="1">
                <a:solidFill>
                  <a:schemeClr val="bg1"/>
                </a:solidFill>
                <a:cs typeface="+mn-ea"/>
                <a:sym typeface="+mn-lt"/>
              </a:rPr>
              <a:t>Binlog</a:t>
            </a:r>
            <a:r>
              <a:rPr lang="zh-CN" altLang="en-US" b="1" dirty="0">
                <a:solidFill>
                  <a:schemeClr val="bg1"/>
                </a:solidFill>
                <a:cs typeface="+mn-ea"/>
                <a:sym typeface="+mn-lt"/>
              </a:rPr>
              <a:t>。主库接到请求后，允许从库复制 </a:t>
            </a:r>
            <a:r>
              <a:rPr lang="en-US" altLang="zh-CN" b="1" dirty="0" err="1">
                <a:solidFill>
                  <a:schemeClr val="bg1"/>
                </a:solidFill>
                <a:cs typeface="+mn-ea"/>
                <a:sym typeface="+mn-lt"/>
              </a:rPr>
              <a:t>Binlog</a:t>
            </a:r>
            <a:r>
              <a:rPr lang="en-US" altLang="zh-CN" b="1" dirty="0">
                <a:solidFill>
                  <a:schemeClr val="bg1"/>
                </a:solidFill>
                <a:cs typeface="+mn-ea"/>
                <a:sym typeface="+mn-lt"/>
              </a:rPr>
              <a:t> </a:t>
            </a:r>
            <a:r>
              <a:rPr lang="zh-CN" altLang="en-US" b="1" dirty="0">
                <a:solidFill>
                  <a:schemeClr val="bg1"/>
                </a:solidFill>
                <a:cs typeface="+mn-ea"/>
                <a:sym typeface="+mn-lt"/>
              </a:rPr>
              <a:t>的变更信息，从库将其保存到 中继日志（</a:t>
            </a:r>
            <a:r>
              <a:rPr lang="en-US" altLang="zh-CN" b="1" dirty="0">
                <a:solidFill>
                  <a:schemeClr val="bg1"/>
                </a:solidFill>
                <a:cs typeface="+mn-ea"/>
                <a:sym typeface="+mn-lt"/>
              </a:rPr>
              <a:t>Relay Log</a:t>
            </a:r>
            <a:r>
              <a:rPr lang="zh-CN" altLang="en-US" b="1" dirty="0">
                <a:solidFill>
                  <a:schemeClr val="bg1"/>
                </a:solidFill>
                <a:cs typeface="+mn-ea"/>
                <a:sym typeface="+mn-lt"/>
              </a:rPr>
              <a:t>） 中。</a:t>
            </a:r>
            <a:endParaRPr lang="en-US" altLang="zh-CN" b="1" dirty="0">
              <a:solidFill>
                <a:schemeClr val="bg1"/>
              </a:solidFill>
              <a:cs typeface="+mn-ea"/>
              <a:sym typeface="+mn-lt"/>
            </a:endParaRPr>
          </a:p>
          <a:p>
            <a:pPr algn="l" defTabSz="1216817">
              <a:lnSpc>
                <a:spcPct val="120000"/>
              </a:lnSpc>
              <a:spcBef>
                <a:spcPct val="20000"/>
              </a:spcBef>
            </a:pPr>
            <a:endParaRPr lang="en-US" altLang="zh-CN" b="1" dirty="0">
              <a:solidFill>
                <a:schemeClr val="bg1"/>
              </a:solidFill>
              <a:cs typeface="+mn-ea"/>
              <a:sym typeface="+mn-lt"/>
            </a:endParaRPr>
          </a:p>
          <a:p>
            <a:pPr algn="l" defTabSz="1216817">
              <a:lnSpc>
                <a:spcPct val="120000"/>
              </a:lnSpc>
              <a:spcBef>
                <a:spcPct val="20000"/>
              </a:spcBef>
            </a:pPr>
            <a:r>
              <a:rPr lang="zh-CN" altLang="en-US" b="1" dirty="0">
                <a:solidFill>
                  <a:schemeClr val="bg1"/>
                </a:solidFill>
                <a:cs typeface="+mn-ea"/>
                <a:sym typeface="+mn-lt"/>
              </a:rPr>
              <a:t>从库拥有 </a:t>
            </a:r>
            <a:r>
              <a:rPr lang="en-US" altLang="zh-CN" b="1" dirty="0">
                <a:solidFill>
                  <a:schemeClr val="bg1"/>
                </a:solidFill>
                <a:cs typeface="+mn-ea"/>
                <a:sym typeface="+mn-lt"/>
              </a:rPr>
              <a:t>SQL </a:t>
            </a:r>
            <a:r>
              <a:rPr lang="zh-CN" altLang="en-US" b="1" dirty="0">
                <a:solidFill>
                  <a:schemeClr val="bg1"/>
                </a:solidFill>
                <a:cs typeface="+mn-ea"/>
                <a:sym typeface="+mn-lt"/>
              </a:rPr>
              <a:t>线程，用于读取并执行 </a:t>
            </a:r>
            <a:r>
              <a:rPr lang="en-US" altLang="zh-CN" b="1" dirty="0">
                <a:solidFill>
                  <a:schemeClr val="bg1"/>
                </a:solidFill>
                <a:cs typeface="+mn-ea"/>
                <a:sym typeface="+mn-lt"/>
              </a:rPr>
              <a:t>Relay Log </a:t>
            </a:r>
            <a:r>
              <a:rPr lang="zh-CN" altLang="en-US" b="1" dirty="0">
                <a:solidFill>
                  <a:schemeClr val="bg1"/>
                </a:solidFill>
                <a:cs typeface="+mn-ea"/>
                <a:sym typeface="+mn-lt"/>
              </a:rPr>
              <a:t>中记录的 </a:t>
            </a:r>
            <a:r>
              <a:rPr lang="en-US" altLang="zh-CN" b="1" dirty="0">
                <a:solidFill>
                  <a:schemeClr val="bg1"/>
                </a:solidFill>
                <a:cs typeface="+mn-ea"/>
                <a:sym typeface="+mn-lt"/>
              </a:rPr>
              <a:t>SQL </a:t>
            </a:r>
            <a:r>
              <a:rPr lang="zh-CN" altLang="en-US" b="1" dirty="0">
                <a:solidFill>
                  <a:schemeClr val="bg1"/>
                </a:solidFill>
                <a:cs typeface="+mn-ea"/>
                <a:sym typeface="+mn-lt"/>
              </a:rPr>
              <a:t>语句，重放主库的操作，从而使从库与主库保持同步。</a:t>
            </a:r>
          </a:p>
        </p:txBody>
      </p:sp>
      <p:sp>
        <p:nvSpPr>
          <p:cNvPr id="11" name="文本框 10"/>
          <p:cNvSpPr txBox="1"/>
          <p:nvPr/>
        </p:nvSpPr>
        <p:spPr>
          <a:xfrm>
            <a:off x="3844145" y="317918"/>
            <a:ext cx="4480560" cy="461665"/>
          </a:xfrm>
          <a:prstGeom prst="rect">
            <a:avLst/>
          </a:prstGeom>
          <a:noFill/>
        </p:spPr>
        <p:txBody>
          <a:bodyPr wrap="square" rtlCol="0">
            <a:spAutoFit/>
          </a:bodyPr>
          <a:lstStyle/>
          <a:p>
            <a:pPr algn="ctr"/>
            <a:r>
              <a:rPr lang="zh-CN" altLang="en-US" sz="2400" b="1" dirty="0">
                <a:solidFill>
                  <a:schemeClr val="bg1"/>
                </a:solidFill>
                <a:latin typeface="+mj-ea"/>
                <a:ea typeface="+mj-ea"/>
              </a:rPr>
              <a:t>工作原理</a:t>
            </a:r>
          </a:p>
        </p:txBody>
      </p:sp>
      <p:sp>
        <p:nvSpPr>
          <p:cNvPr id="12" name="Shape 1376"/>
          <p:cNvSpPr/>
          <p:nvPr/>
        </p:nvSpPr>
        <p:spPr>
          <a:xfrm flipV="1">
            <a:off x="4755709" y="445042"/>
            <a:ext cx="532172" cy="59774"/>
          </a:xfrm>
          <a:prstGeom prst="roundRect">
            <a:avLst>
              <a:gd name="adj" fmla="val 50000"/>
            </a:avLst>
          </a:prstGeom>
          <a:solidFill>
            <a:schemeClr val="bg1"/>
          </a:solidFill>
          <a:ln>
            <a:noFill/>
          </a:ln>
        </p:spPr>
        <p:txBody>
          <a:bodyPr lIns="0" tIns="0" rIns="853425" bIns="0" anchor="ctr" anchorCtr="0">
            <a:noAutofit/>
          </a:bodyPr>
          <a:lstStyle/>
          <a:p>
            <a:pPr marL="0" marR="0" lvl="0" indent="0" algn="ctr" rtl="0">
              <a:spcBef>
                <a:spcPts val="0"/>
              </a:spcBef>
              <a:buSzPct val="25000"/>
              <a:buNone/>
            </a:pPr>
            <a:endParaRPr lang="id-ID" sz="1600" dirty="0">
              <a:solidFill>
                <a:schemeClr val="accent2"/>
              </a:solidFill>
              <a:latin typeface="+mj-ea"/>
              <a:ea typeface="+mj-ea"/>
              <a:cs typeface="Roboto"/>
              <a:sym typeface="Roboto"/>
            </a:endParaRPr>
          </a:p>
        </p:txBody>
      </p:sp>
      <p:sp>
        <p:nvSpPr>
          <p:cNvPr id="13" name="Shape 1376"/>
          <p:cNvSpPr/>
          <p:nvPr/>
        </p:nvSpPr>
        <p:spPr>
          <a:xfrm flipV="1">
            <a:off x="4410899" y="572998"/>
            <a:ext cx="746361" cy="90253"/>
          </a:xfrm>
          <a:prstGeom prst="roundRect">
            <a:avLst>
              <a:gd name="adj" fmla="val 50000"/>
            </a:avLst>
          </a:prstGeom>
          <a:solidFill>
            <a:schemeClr val="bg1"/>
          </a:solidFill>
          <a:ln>
            <a:noFill/>
          </a:ln>
        </p:spPr>
        <p:txBody>
          <a:bodyPr lIns="0" tIns="0" rIns="853425" bIns="0" anchor="ctr" anchorCtr="0">
            <a:noAutofit/>
          </a:bodyPr>
          <a:lstStyle/>
          <a:p>
            <a:pPr marL="0" marR="0" lvl="0" indent="0" algn="ctr" rtl="0">
              <a:spcBef>
                <a:spcPts val="0"/>
              </a:spcBef>
              <a:buSzPct val="25000"/>
              <a:buNone/>
            </a:pPr>
            <a:endParaRPr lang="id-ID" sz="1600" dirty="0">
              <a:solidFill>
                <a:schemeClr val="accent2"/>
              </a:solidFill>
              <a:latin typeface="+mj-ea"/>
              <a:ea typeface="+mj-ea"/>
              <a:cs typeface="Roboto"/>
              <a:sym typeface="Roboto"/>
            </a:endParaRPr>
          </a:p>
        </p:txBody>
      </p:sp>
      <p:grpSp>
        <p:nvGrpSpPr>
          <p:cNvPr id="14" name="组合 13"/>
          <p:cNvGrpSpPr/>
          <p:nvPr/>
        </p:nvGrpSpPr>
        <p:grpSpPr>
          <a:xfrm flipH="1">
            <a:off x="6846351" y="445042"/>
            <a:ext cx="876982" cy="218209"/>
            <a:chOff x="6834921" y="445042"/>
            <a:chExt cx="876982" cy="218209"/>
          </a:xfrm>
          <a:solidFill>
            <a:schemeClr val="bg1"/>
          </a:solidFill>
        </p:grpSpPr>
        <p:sp>
          <p:nvSpPr>
            <p:cNvPr id="15" name="Shape 1376"/>
            <p:cNvSpPr/>
            <p:nvPr/>
          </p:nvSpPr>
          <p:spPr>
            <a:xfrm flipV="1">
              <a:off x="7179731" y="445042"/>
              <a:ext cx="532172" cy="59774"/>
            </a:xfrm>
            <a:prstGeom prst="roundRect">
              <a:avLst>
                <a:gd name="adj" fmla="val 50000"/>
              </a:avLst>
            </a:prstGeom>
            <a:grpFill/>
            <a:ln>
              <a:noFill/>
            </a:ln>
          </p:spPr>
          <p:txBody>
            <a:bodyPr lIns="0" tIns="0" rIns="853425" bIns="0" anchor="ctr" anchorCtr="0">
              <a:noAutofit/>
            </a:bodyPr>
            <a:lstStyle/>
            <a:p>
              <a:pPr marL="0" marR="0" lvl="0" indent="0" algn="ctr" rtl="0">
                <a:spcBef>
                  <a:spcPts val="0"/>
                </a:spcBef>
                <a:buSzPct val="25000"/>
                <a:buNone/>
              </a:pPr>
              <a:endParaRPr lang="id-ID" sz="1600" dirty="0">
                <a:solidFill>
                  <a:schemeClr val="accent2"/>
                </a:solidFill>
                <a:latin typeface="+mj-ea"/>
                <a:ea typeface="+mj-ea"/>
                <a:cs typeface="Roboto"/>
                <a:sym typeface="Roboto"/>
              </a:endParaRPr>
            </a:p>
          </p:txBody>
        </p:sp>
        <p:sp>
          <p:nvSpPr>
            <p:cNvPr id="16" name="Shape 1376"/>
            <p:cNvSpPr/>
            <p:nvPr/>
          </p:nvSpPr>
          <p:spPr>
            <a:xfrm flipV="1">
              <a:off x="6834921" y="572998"/>
              <a:ext cx="746361" cy="90253"/>
            </a:xfrm>
            <a:prstGeom prst="roundRect">
              <a:avLst>
                <a:gd name="adj" fmla="val 50000"/>
              </a:avLst>
            </a:prstGeom>
            <a:grpFill/>
            <a:ln>
              <a:noFill/>
            </a:ln>
          </p:spPr>
          <p:txBody>
            <a:bodyPr lIns="0" tIns="0" rIns="853425" bIns="0" anchor="ctr" anchorCtr="0">
              <a:noAutofit/>
            </a:bodyPr>
            <a:lstStyle/>
            <a:p>
              <a:pPr marL="0" marR="0" lvl="0" indent="0" algn="ctr" rtl="0">
                <a:spcBef>
                  <a:spcPts val="0"/>
                </a:spcBef>
                <a:buSzPct val="25000"/>
                <a:buNone/>
              </a:pPr>
              <a:endParaRPr lang="id-ID" sz="1600" dirty="0">
                <a:solidFill>
                  <a:schemeClr val="accent2"/>
                </a:solidFill>
                <a:latin typeface="+mj-ea"/>
                <a:ea typeface="+mj-ea"/>
                <a:cs typeface="Roboto"/>
                <a:sym typeface="Roboto"/>
              </a:endParaRPr>
            </a:p>
          </p:txBody>
        </p:sp>
      </p:grpSp>
      <p:pic>
        <p:nvPicPr>
          <p:cNvPr id="6" name="图片 5">
            <a:extLst>
              <a:ext uri="{FF2B5EF4-FFF2-40B4-BE49-F238E27FC236}">
                <a16:creationId xmlns:a16="http://schemas.microsoft.com/office/drawing/2014/main" id="{04132413-32CF-17DB-8220-49777DC463CE}"/>
              </a:ext>
            </a:extLst>
          </p:cNvPr>
          <p:cNvPicPr>
            <a:picLocks noChangeAspect="1"/>
          </p:cNvPicPr>
          <p:nvPr/>
        </p:nvPicPr>
        <p:blipFill>
          <a:blip r:embed="rId2"/>
          <a:stretch>
            <a:fillRect/>
          </a:stretch>
        </p:blipFill>
        <p:spPr>
          <a:xfrm>
            <a:off x="164706" y="1843313"/>
            <a:ext cx="7889068" cy="3976603"/>
          </a:xfrm>
          <a:prstGeom prst="rect">
            <a:avLst/>
          </a:prstGeom>
        </p:spPr>
      </p:pic>
    </p:spTree>
    <p:extLst>
      <p:ext uri="{BB962C8B-B14F-4D97-AF65-F5344CB8AC3E}">
        <p14:creationId xmlns:p14="http://schemas.microsoft.com/office/powerpoint/2010/main" val="327943630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084457" y="1901214"/>
            <a:ext cx="4107543" cy="3860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p:cNvSpPr txBox="1"/>
          <p:nvPr/>
        </p:nvSpPr>
        <p:spPr>
          <a:xfrm>
            <a:off x="8324705" y="1951515"/>
            <a:ext cx="3617711" cy="3760197"/>
          </a:xfrm>
          <a:prstGeom prst="rect">
            <a:avLst/>
          </a:prstGeom>
          <a:noFill/>
        </p:spPr>
        <p:txBody>
          <a:bodyPr wrap="square" rtlCol="0">
            <a:spAutoFit/>
          </a:bodyPr>
          <a:lstStyle>
            <a:defPPr>
              <a:defRPr lang="zh-CN"/>
            </a:defPPr>
            <a:lvl1pPr algn="ctr">
              <a:defRPr sz="1600">
                <a:solidFill>
                  <a:schemeClr val="tx1">
                    <a:lumMod val="65000"/>
                    <a:lumOff val="35000"/>
                  </a:schemeClr>
                </a:solidFill>
                <a:latin typeface="+mj-lt"/>
              </a:defRPr>
            </a:lvl1pPr>
          </a:lstStyle>
          <a:p>
            <a:pPr algn="l" defTabSz="1216817">
              <a:lnSpc>
                <a:spcPct val="120000"/>
              </a:lnSpc>
              <a:spcBef>
                <a:spcPct val="20000"/>
              </a:spcBef>
            </a:pPr>
            <a:r>
              <a:rPr lang="zh-CN" altLang="en-US" b="1" dirty="0">
                <a:solidFill>
                  <a:schemeClr val="bg1"/>
                </a:solidFill>
                <a:cs typeface="+mn-ea"/>
                <a:sym typeface="+mn-lt"/>
              </a:rPr>
              <a:t>读写分离：主库只负责写操作，而从库可以承载大量读操作，通过负载均衡，提升整体系统的吞吐量。</a:t>
            </a:r>
          </a:p>
          <a:p>
            <a:pPr algn="l" defTabSz="1216817">
              <a:lnSpc>
                <a:spcPct val="120000"/>
              </a:lnSpc>
              <a:spcBef>
                <a:spcPct val="20000"/>
              </a:spcBef>
            </a:pPr>
            <a:r>
              <a:rPr lang="zh-CN" altLang="en-US" b="1" dirty="0">
                <a:solidFill>
                  <a:schemeClr val="bg1"/>
                </a:solidFill>
                <a:cs typeface="+mn-ea"/>
                <a:sym typeface="+mn-lt"/>
              </a:rPr>
              <a:t>高可用性：当主库出现故障时，可以手动或自动将从库提升为主库，保证系统的可用性，减少宕机时间。</a:t>
            </a:r>
          </a:p>
          <a:p>
            <a:pPr algn="l" defTabSz="1216817">
              <a:lnSpc>
                <a:spcPct val="120000"/>
              </a:lnSpc>
              <a:spcBef>
                <a:spcPct val="20000"/>
              </a:spcBef>
            </a:pPr>
            <a:r>
              <a:rPr lang="zh-CN" altLang="en-US" b="1" dirty="0">
                <a:solidFill>
                  <a:schemeClr val="bg1"/>
                </a:solidFill>
                <a:cs typeface="+mn-ea"/>
                <a:sym typeface="+mn-lt"/>
              </a:rPr>
              <a:t>备份与容灾：从库可以作为主库的备份，提高数据安全性，当主库发生严重问题时，可以快速切换到从库。</a:t>
            </a:r>
          </a:p>
          <a:p>
            <a:pPr algn="l" defTabSz="1216817">
              <a:lnSpc>
                <a:spcPct val="120000"/>
              </a:lnSpc>
              <a:spcBef>
                <a:spcPct val="20000"/>
              </a:spcBef>
            </a:pPr>
            <a:r>
              <a:rPr lang="zh-CN" altLang="en-US" b="1" dirty="0">
                <a:solidFill>
                  <a:schemeClr val="bg1"/>
                </a:solidFill>
                <a:cs typeface="+mn-ea"/>
                <a:sym typeface="+mn-lt"/>
              </a:rPr>
              <a:t>扩展性强：通过增加从库数量，可以水平扩展系统的读性能，适应业务的增长。</a:t>
            </a:r>
          </a:p>
        </p:txBody>
      </p:sp>
      <p:sp>
        <p:nvSpPr>
          <p:cNvPr id="11" name="文本框 10"/>
          <p:cNvSpPr txBox="1"/>
          <p:nvPr/>
        </p:nvSpPr>
        <p:spPr>
          <a:xfrm>
            <a:off x="3844145" y="317918"/>
            <a:ext cx="4480560" cy="461665"/>
          </a:xfrm>
          <a:prstGeom prst="rect">
            <a:avLst/>
          </a:prstGeom>
          <a:noFill/>
        </p:spPr>
        <p:txBody>
          <a:bodyPr wrap="square" rtlCol="0">
            <a:spAutoFit/>
          </a:bodyPr>
          <a:lstStyle/>
          <a:p>
            <a:pPr algn="ctr"/>
            <a:r>
              <a:rPr lang="zh-CN" altLang="en-US" sz="2400" b="1" dirty="0">
                <a:solidFill>
                  <a:schemeClr val="bg1"/>
                </a:solidFill>
                <a:latin typeface="+mj-ea"/>
                <a:ea typeface="+mj-ea"/>
              </a:rPr>
              <a:t>优势</a:t>
            </a:r>
          </a:p>
        </p:txBody>
      </p:sp>
      <p:sp>
        <p:nvSpPr>
          <p:cNvPr id="12" name="Shape 1376"/>
          <p:cNvSpPr/>
          <p:nvPr/>
        </p:nvSpPr>
        <p:spPr>
          <a:xfrm flipV="1">
            <a:off x="4755709" y="445042"/>
            <a:ext cx="532172" cy="59774"/>
          </a:xfrm>
          <a:prstGeom prst="roundRect">
            <a:avLst>
              <a:gd name="adj" fmla="val 50000"/>
            </a:avLst>
          </a:prstGeom>
          <a:solidFill>
            <a:schemeClr val="bg1"/>
          </a:solidFill>
          <a:ln>
            <a:noFill/>
          </a:ln>
        </p:spPr>
        <p:txBody>
          <a:bodyPr lIns="0" tIns="0" rIns="853425" bIns="0" anchor="ctr" anchorCtr="0">
            <a:noAutofit/>
          </a:bodyPr>
          <a:lstStyle/>
          <a:p>
            <a:pPr marL="0" marR="0" lvl="0" indent="0" algn="ctr" rtl="0">
              <a:spcBef>
                <a:spcPts val="0"/>
              </a:spcBef>
              <a:buSzPct val="25000"/>
              <a:buNone/>
            </a:pPr>
            <a:endParaRPr lang="id-ID" sz="1600" dirty="0">
              <a:solidFill>
                <a:schemeClr val="accent2"/>
              </a:solidFill>
              <a:latin typeface="+mj-ea"/>
              <a:ea typeface="+mj-ea"/>
              <a:cs typeface="Roboto"/>
              <a:sym typeface="Roboto"/>
            </a:endParaRPr>
          </a:p>
        </p:txBody>
      </p:sp>
      <p:sp>
        <p:nvSpPr>
          <p:cNvPr id="13" name="Shape 1376"/>
          <p:cNvSpPr/>
          <p:nvPr/>
        </p:nvSpPr>
        <p:spPr>
          <a:xfrm flipV="1">
            <a:off x="4410899" y="572998"/>
            <a:ext cx="746361" cy="90253"/>
          </a:xfrm>
          <a:prstGeom prst="roundRect">
            <a:avLst>
              <a:gd name="adj" fmla="val 50000"/>
            </a:avLst>
          </a:prstGeom>
          <a:solidFill>
            <a:schemeClr val="bg1"/>
          </a:solidFill>
          <a:ln>
            <a:noFill/>
          </a:ln>
        </p:spPr>
        <p:txBody>
          <a:bodyPr lIns="0" tIns="0" rIns="853425" bIns="0" anchor="ctr" anchorCtr="0">
            <a:noAutofit/>
          </a:bodyPr>
          <a:lstStyle/>
          <a:p>
            <a:pPr marL="0" marR="0" lvl="0" indent="0" algn="ctr" rtl="0">
              <a:spcBef>
                <a:spcPts val="0"/>
              </a:spcBef>
              <a:buSzPct val="25000"/>
              <a:buNone/>
            </a:pPr>
            <a:endParaRPr lang="id-ID" sz="1600" dirty="0">
              <a:solidFill>
                <a:schemeClr val="accent2"/>
              </a:solidFill>
              <a:latin typeface="+mj-ea"/>
              <a:ea typeface="+mj-ea"/>
              <a:cs typeface="Roboto"/>
              <a:sym typeface="Roboto"/>
            </a:endParaRPr>
          </a:p>
        </p:txBody>
      </p:sp>
      <p:grpSp>
        <p:nvGrpSpPr>
          <p:cNvPr id="14" name="组合 13"/>
          <p:cNvGrpSpPr/>
          <p:nvPr/>
        </p:nvGrpSpPr>
        <p:grpSpPr>
          <a:xfrm flipH="1">
            <a:off x="6846351" y="445042"/>
            <a:ext cx="876982" cy="218209"/>
            <a:chOff x="6834921" y="445042"/>
            <a:chExt cx="876982" cy="218209"/>
          </a:xfrm>
          <a:solidFill>
            <a:schemeClr val="bg1"/>
          </a:solidFill>
        </p:grpSpPr>
        <p:sp>
          <p:nvSpPr>
            <p:cNvPr id="15" name="Shape 1376"/>
            <p:cNvSpPr/>
            <p:nvPr/>
          </p:nvSpPr>
          <p:spPr>
            <a:xfrm flipV="1">
              <a:off x="7179731" y="445042"/>
              <a:ext cx="532172" cy="59774"/>
            </a:xfrm>
            <a:prstGeom prst="roundRect">
              <a:avLst>
                <a:gd name="adj" fmla="val 50000"/>
              </a:avLst>
            </a:prstGeom>
            <a:grpFill/>
            <a:ln>
              <a:noFill/>
            </a:ln>
          </p:spPr>
          <p:txBody>
            <a:bodyPr lIns="0" tIns="0" rIns="853425" bIns="0" anchor="ctr" anchorCtr="0">
              <a:noAutofit/>
            </a:bodyPr>
            <a:lstStyle/>
            <a:p>
              <a:pPr marL="0" marR="0" lvl="0" indent="0" algn="ctr" rtl="0">
                <a:spcBef>
                  <a:spcPts val="0"/>
                </a:spcBef>
                <a:buSzPct val="25000"/>
                <a:buNone/>
              </a:pPr>
              <a:endParaRPr lang="id-ID" sz="1600" dirty="0">
                <a:solidFill>
                  <a:schemeClr val="accent2"/>
                </a:solidFill>
                <a:latin typeface="+mj-ea"/>
                <a:ea typeface="+mj-ea"/>
                <a:cs typeface="Roboto"/>
                <a:sym typeface="Roboto"/>
              </a:endParaRPr>
            </a:p>
          </p:txBody>
        </p:sp>
        <p:sp>
          <p:nvSpPr>
            <p:cNvPr id="16" name="Shape 1376"/>
            <p:cNvSpPr/>
            <p:nvPr/>
          </p:nvSpPr>
          <p:spPr>
            <a:xfrm flipV="1">
              <a:off x="6834921" y="572998"/>
              <a:ext cx="746361" cy="90253"/>
            </a:xfrm>
            <a:prstGeom prst="roundRect">
              <a:avLst>
                <a:gd name="adj" fmla="val 50000"/>
              </a:avLst>
            </a:prstGeom>
            <a:grpFill/>
            <a:ln>
              <a:noFill/>
            </a:ln>
          </p:spPr>
          <p:txBody>
            <a:bodyPr lIns="0" tIns="0" rIns="853425" bIns="0" anchor="ctr" anchorCtr="0">
              <a:noAutofit/>
            </a:bodyPr>
            <a:lstStyle/>
            <a:p>
              <a:pPr marL="0" marR="0" lvl="0" indent="0" algn="ctr" rtl="0">
                <a:spcBef>
                  <a:spcPts val="0"/>
                </a:spcBef>
                <a:buSzPct val="25000"/>
                <a:buNone/>
              </a:pPr>
              <a:endParaRPr lang="id-ID" sz="1600" dirty="0">
                <a:solidFill>
                  <a:schemeClr val="accent2"/>
                </a:solidFill>
                <a:latin typeface="+mj-ea"/>
                <a:ea typeface="+mj-ea"/>
                <a:cs typeface="Roboto"/>
                <a:sym typeface="Roboto"/>
              </a:endParaRPr>
            </a:p>
          </p:txBody>
        </p:sp>
      </p:grpSp>
      <p:pic>
        <p:nvPicPr>
          <p:cNvPr id="5" name="图片 4">
            <a:extLst>
              <a:ext uri="{FF2B5EF4-FFF2-40B4-BE49-F238E27FC236}">
                <a16:creationId xmlns:a16="http://schemas.microsoft.com/office/drawing/2014/main" id="{86B463A9-5516-BD45-F729-5D86836E961C}"/>
              </a:ext>
            </a:extLst>
          </p:cNvPr>
          <p:cNvPicPr>
            <a:picLocks noChangeAspect="1"/>
          </p:cNvPicPr>
          <p:nvPr/>
        </p:nvPicPr>
        <p:blipFill>
          <a:blip r:embed="rId2"/>
          <a:stretch>
            <a:fillRect/>
          </a:stretch>
        </p:blipFill>
        <p:spPr>
          <a:xfrm>
            <a:off x="76901" y="1776367"/>
            <a:ext cx="8007556" cy="4110492"/>
          </a:xfrm>
          <a:prstGeom prst="rect">
            <a:avLst/>
          </a:prstGeom>
        </p:spPr>
      </p:pic>
    </p:spTree>
    <p:extLst>
      <p:ext uri="{BB962C8B-B14F-4D97-AF65-F5344CB8AC3E}">
        <p14:creationId xmlns:p14="http://schemas.microsoft.com/office/powerpoint/2010/main" val="148064531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等腰三角形 2"/>
          <p:cNvSpPr/>
          <p:nvPr/>
        </p:nvSpPr>
        <p:spPr>
          <a:xfrm rot="16200000" flipV="1">
            <a:off x="-316629" y="1426842"/>
            <a:ext cx="4630086" cy="3991456"/>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p:cNvSpPr/>
          <p:nvPr/>
        </p:nvSpPr>
        <p:spPr>
          <a:xfrm rot="16200000" flipH="1" flipV="1">
            <a:off x="803610" y="5456558"/>
            <a:ext cx="1931640" cy="1665208"/>
          </a:xfrm>
          <a:prstGeom prst="triangl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等腰三角形 4"/>
          <p:cNvSpPr/>
          <p:nvPr/>
        </p:nvSpPr>
        <p:spPr>
          <a:xfrm rot="16200000" flipH="1">
            <a:off x="2586755" y="1826415"/>
            <a:ext cx="1511638" cy="1303136"/>
          </a:xfrm>
          <a:prstGeom prst="triangl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等腰三角形 5"/>
          <p:cNvSpPr/>
          <p:nvPr/>
        </p:nvSpPr>
        <p:spPr>
          <a:xfrm rot="16200000" flipH="1">
            <a:off x="-705677" y="902094"/>
            <a:ext cx="1160005" cy="1000004"/>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p:nvSpPr>
        <p:spPr>
          <a:xfrm rot="16200000" flipH="1">
            <a:off x="691643" y="500873"/>
            <a:ext cx="881342" cy="759777"/>
          </a:xfrm>
          <a:prstGeom prst="triangl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p:nvSpPr>
        <p:spPr>
          <a:xfrm rot="16200000" flipH="1">
            <a:off x="-300255" y="5881715"/>
            <a:ext cx="628989" cy="542232"/>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p:nvSpPr>
        <p:spPr>
          <a:xfrm rot="16200000" flipH="1">
            <a:off x="1320310" y="7399925"/>
            <a:ext cx="350641" cy="302277"/>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rot="16200000" flipH="1" flipV="1">
            <a:off x="1488021" y="-668880"/>
            <a:ext cx="350641" cy="302277"/>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rot="16200000" flipH="1" flipV="1">
            <a:off x="3912597" y="5855572"/>
            <a:ext cx="249918" cy="215446"/>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p:nvSpPr>
        <p:spPr>
          <a:xfrm rot="16200000" flipH="1">
            <a:off x="-680788" y="-585350"/>
            <a:ext cx="1037711" cy="894578"/>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p:nvSpPr>
        <p:spPr>
          <a:xfrm rot="16200000" flipH="1" flipV="1">
            <a:off x="-1151942" y="-844201"/>
            <a:ext cx="350641" cy="302277"/>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4239" y="1863220"/>
            <a:ext cx="2496342" cy="3154710"/>
          </a:xfrm>
          <a:prstGeom prst="rect">
            <a:avLst/>
          </a:prstGeom>
          <a:noFill/>
        </p:spPr>
        <p:txBody>
          <a:bodyPr wrap="square" rtlCol="0">
            <a:spAutoFit/>
          </a:bodyPr>
          <a:lstStyle/>
          <a:p>
            <a:pPr algn="ctr"/>
            <a:r>
              <a:rPr lang="en-US" altLang="zh-CN" sz="19900" dirty="0">
                <a:solidFill>
                  <a:schemeClr val="bg1"/>
                </a:solidFill>
                <a:latin typeface="张海山锐谐体" panose="02000000000000000000" pitchFamily="2" charset="-122"/>
                <a:ea typeface="张海山锐谐体" panose="02000000000000000000" pitchFamily="2" charset="-122"/>
              </a:rPr>
              <a:t>3</a:t>
            </a:r>
            <a:endParaRPr lang="zh-CN" altLang="en-US" sz="19900" dirty="0">
              <a:solidFill>
                <a:schemeClr val="bg1"/>
              </a:solidFill>
              <a:latin typeface="张海山锐谐体" panose="02000000000000000000" pitchFamily="2" charset="-122"/>
              <a:ea typeface="张海山锐谐体" panose="02000000000000000000" pitchFamily="2" charset="-122"/>
            </a:endParaRPr>
          </a:p>
        </p:txBody>
      </p:sp>
      <p:sp>
        <p:nvSpPr>
          <p:cNvPr id="15" name="文本框 14"/>
          <p:cNvSpPr txBox="1"/>
          <p:nvPr/>
        </p:nvSpPr>
        <p:spPr>
          <a:xfrm>
            <a:off x="5170394" y="2450424"/>
            <a:ext cx="5899116" cy="584775"/>
          </a:xfrm>
          <a:prstGeom prst="rect">
            <a:avLst/>
          </a:prstGeom>
          <a:noFill/>
        </p:spPr>
        <p:txBody>
          <a:bodyPr wrap="square" rtlCol="0">
            <a:spAutoFit/>
          </a:bodyPr>
          <a:lstStyle/>
          <a:p>
            <a:r>
              <a:rPr lang="en-US" altLang="zh-CN" sz="3200" dirty="0">
                <a:solidFill>
                  <a:schemeClr val="bg1"/>
                </a:solidFill>
                <a:latin typeface="张海山锐谐体" panose="02000000000000000000" pitchFamily="2" charset="-122"/>
                <a:ea typeface="张海山锐谐体" panose="02000000000000000000" pitchFamily="2" charset="-122"/>
              </a:rPr>
              <a:t>Redis </a:t>
            </a:r>
            <a:r>
              <a:rPr lang="zh-CN" altLang="en-US" sz="3200" dirty="0">
                <a:solidFill>
                  <a:schemeClr val="bg1"/>
                </a:solidFill>
                <a:latin typeface="张海山锐谐体" panose="02000000000000000000" pitchFamily="2" charset="-122"/>
                <a:ea typeface="张海山锐谐体" panose="02000000000000000000" pitchFamily="2" charset="-122"/>
              </a:rPr>
              <a:t>的分布式部署与集群模式</a:t>
            </a:r>
            <a:endParaRPr lang="zh-CN" altLang="en-US" sz="1800" dirty="0">
              <a:solidFill>
                <a:schemeClr val="bg1"/>
              </a:solidFill>
              <a:latin typeface="张海山锐谐体" panose="02000000000000000000" pitchFamily="2" charset="-122"/>
              <a:ea typeface="张海山锐谐体" panose="02000000000000000000" pitchFamily="2" charset="-122"/>
            </a:endParaRPr>
          </a:p>
        </p:txBody>
      </p:sp>
      <p:sp>
        <p:nvSpPr>
          <p:cNvPr id="16" name="文本框 15"/>
          <p:cNvSpPr txBox="1"/>
          <p:nvPr/>
        </p:nvSpPr>
        <p:spPr>
          <a:xfrm>
            <a:off x="5248301" y="3440575"/>
            <a:ext cx="5899116" cy="147732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solidFill>
                  <a:schemeClr val="bg1"/>
                </a:solidFill>
              </a:rPr>
              <a:t>Redis </a:t>
            </a:r>
            <a:r>
              <a:rPr lang="zh-CN" altLang="en-US" dirty="0">
                <a:solidFill>
                  <a:schemeClr val="bg1"/>
                </a:solidFill>
              </a:rPr>
              <a:t>是一种开源的内存键值存储系统，广泛用于缓存、高速存储和分布式系统。为了提高性能、扩展性和可用性，</a:t>
            </a:r>
            <a:r>
              <a:rPr lang="en-US" altLang="zh-CN" dirty="0">
                <a:solidFill>
                  <a:schemeClr val="bg1"/>
                </a:solidFill>
              </a:rPr>
              <a:t>Redis </a:t>
            </a:r>
            <a:r>
              <a:rPr lang="zh-CN" altLang="en-US" dirty="0">
                <a:solidFill>
                  <a:schemeClr val="bg1"/>
                </a:solidFill>
              </a:rPr>
              <a:t>提供了多种分布式部署方式，包括主从复制、哨兵模式和集群模式。</a:t>
            </a:r>
            <a:endParaRPr lang="en-US" altLang="zh-CN" dirty="0">
              <a:solidFill>
                <a:schemeClr val="bg1"/>
              </a:solidFill>
            </a:endParaRPr>
          </a:p>
          <a:p>
            <a:endParaRPr lang="en-US" altLang="zh-CN" b="1" dirty="0">
              <a:solidFill>
                <a:schemeClr val="bg1"/>
              </a:solidFill>
              <a:cs typeface="+mn-ea"/>
              <a:sym typeface="+mn-lt"/>
            </a:endParaRPr>
          </a:p>
        </p:txBody>
      </p:sp>
      <p:sp>
        <p:nvSpPr>
          <p:cNvPr id="17" name="椭圆 16"/>
          <p:cNvSpPr/>
          <p:nvPr/>
        </p:nvSpPr>
        <p:spPr>
          <a:xfrm>
            <a:off x="3955794" y="3372667"/>
            <a:ext cx="99805" cy="9980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2629550" y="2428079"/>
            <a:ext cx="99805" cy="9980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882989" y="5273439"/>
            <a:ext cx="99805" cy="9980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270679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文本框 38"/>
          <p:cNvSpPr txBox="1"/>
          <p:nvPr/>
        </p:nvSpPr>
        <p:spPr>
          <a:xfrm>
            <a:off x="758738" y="1454998"/>
            <a:ext cx="4327869" cy="4161973"/>
          </a:xfrm>
          <a:prstGeom prst="rect">
            <a:avLst/>
          </a:prstGeom>
          <a:noFill/>
        </p:spPr>
        <p:txBody>
          <a:bodyPr wrap="square" rtlCol="0">
            <a:spAutoFit/>
          </a:bodyPr>
          <a:lstStyle/>
          <a:p>
            <a:pPr defTabSz="1216817">
              <a:lnSpc>
                <a:spcPct val="120000"/>
              </a:lnSpc>
              <a:spcBef>
                <a:spcPct val="20000"/>
              </a:spcBef>
            </a:pPr>
            <a:r>
              <a:rPr lang="en-US" altLang="zh-CN" sz="1400" b="1" dirty="0">
                <a:solidFill>
                  <a:schemeClr val="bg1"/>
                </a:solidFill>
                <a:cs typeface="+mn-ea"/>
                <a:sym typeface="+mn-lt"/>
              </a:rPr>
              <a:t>Redis </a:t>
            </a:r>
            <a:r>
              <a:rPr lang="zh-CN" altLang="en-US" sz="1400" b="1" dirty="0">
                <a:solidFill>
                  <a:schemeClr val="bg1"/>
                </a:solidFill>
                <a:cs typeface="+mn-ea"/>
                <a:sym typeface="+mn-lt"/>
              </a:rPr>
              <a:t>的主从复制机制是分布式架构的基础，允许一个 </a:t>
            </a:r>
            <a:r>
              <a:rPr lang="en-US" altLang="zh-CN" sz="1400" b="1" dirty="0">
                <a:solidFill>
                  <a:schemeClr val="bg1"/>
                </a:solidFill>
                <a:cs typeface="+mn-ea"/>
                <a:sym typeface="+mn-lt"/>
              </a:rPr>
              <a:t>Redis </a:t>
            </a:r>
            <a:r>
              <a:rPr lang="zh-CN" altLang="en-US" sz="1400" b="1" dirty="0">
                <a:solidFill>
                  <a:schemeClr val="bg1"/>
                </a:solidFill>
                <a:cs typeface="+mn-ea"/>
                <a:sym typeface="+mn-lt"/>
              </a:rPr>
              <a:t>实例作为主节点，多个其他实例作为从节点，负责同步主节点上的数据。主库（</a:t>
            </a:r>
            <a:r>
              <a:rPr lang="en-US" altLang="zh-CN" sz="1400" b="1" dirty="0">
                <a:solidFill>
                  <a:schemeClr val="bg1"/>
                </a:solidFill>
                <a:cs typeface="+mn-ea"/>
                <a:sym typeface="+mn-lt"/>
              </a:rPr>
              <a:t>Master</a:t>
            </a:r>
            <a:r>
              <a:rPr lang="zh-CN" altLang="en-US" sz="1400" b="1" dirty="0">
                <a:solidFill>
                  <a:schemeClr val="bg1"/>
                </a:solidFill>
                <a:cs typeface="+mn-ea"/>
                <a:sym typeface="+mn-lt"/>
              </a:rPr>
              <a:t>）：负责处理写操作，存储最新的数据。从库（</a:t>
            </a:r>
            <a:r>
              <a:rPr lang="en-US" altLang="zh-CN" sz="1400" b="1" dirty="0">
                <a:solidFill>
                  <a:schemeClr val="bg1"/>
                </a:solidFill>
                <a:cs typeface="+mn-ea"/>
                <a:sym typeface="+mn-lt"/>
              </a:rPr>
              <a:t>Slave</a:t>
            </a:r>
            <a:r>
              <a:rPr lang="zh-CN" altLang="en-US" sz="1400" b="1" dirty="0">
                <a:solidFill>
                  <a:schemeClr val="bg1"/>
                </a:solidFill>
                <a:cs typeface="+mn-ea"/>
                <a:sym typeface="+mn-lt"/>
              </a:rPr>
              <a:t>）：从主库同步数据，通常只处理读操作，支持负载均衡。</a:t>
            </a:r>
          </a:p>
          <a:p>
            <a:pPr defTabSz="1216817">
              <a:lnSpc>
                <a:spcPct val="120000"/>
              </a:lnSpc>
              <a:spcBef>
                <a:spcPct val="20000"/>
              </a:spcBef>
            </a:pPr>
            <a:endParaRPr lang="en-US" altLang="zh-CN" sz="1400" b="1" dirty="0">
              <a:solidFill>
                <a:schemeClr val="bg1"/>
              </a:solidFill>
              <a:cs typeface="+mn-ea"/>
              <a:sym typeface="+mn-lt"/>
            </a:endParaRPr>
          </a:p>
          <a:p>
            <a:pPr defTabSz="1216817">
              <a:lnSpc>
                <a:spcPct val="120000"/>
              </a:lnSpc>
              <a:spcBef>
                <a:spcPct val="20000"/>
              </a:spcBef>
            </a:pPr>
            <a:r>
              <a:rPr lang="zh-CN" altLang="en-US" sz="1400" b="1" dirty="0">
                <a:solidFill>
                  <a:schemeClr val="bg1"/>
                </a:solidFill>
                <a:cs typeface="+mn-ea"/>
                <a:sym typeface="+mn-lt"/>
              </a:rPr>
              <a:t>初次同步：当从节点启动时，会发送 </a:t>
            </a:r>
            <a:r>
              <a:rPr lang="en-US" altLang="zh-CN" sz="1400" b="1" dirty="0">
                <a:solidFill>
                  <a:schemeClr val="bg1"/>
                </a:solidFill>
                <a:cs typeface="+mn-ea"/>
                <a:sym typeface="+mn-lt"/>
              </a:rPr>
              <a:t>SYNC </a:t>
            </a:r>
            <a:r>
              <a:rPr lang="zh-CN" altLang="en-US" sz="1400" b="1" dirty="0">
                <a:solidFill>
                  <a:schemeClr val="bg1"/>
                </a:solidFill>
                <a:cs typeface="+mn-ea"/>
                <a:sym typeface="+mn-lt"/>
              </a:rPr>
              <a:t>命令向主节点请求同步。主节点会生成一份当前内存数据的快照（</a:t>
            </a:r>
            <a:r>
              <a:rPr lang="en-US" altLang="zh-CN" sz="1400" b="1" dirty="0">
                <a:solidFill>
                  <a:schemeClr val="bg1"/>
                </a:solidFill>
                <a:cs typeface="+mn-ea"/>
                <a:sym typeface="+mn-lt"/>
              </a:rPr>
              <a:t>RDB </a:t>
            </a:r>
            <a:r>
              <a:rPr lang="zh-CN" altLang="en-US" sz="1400" b="1" dirty="0">
                <a:solidFill>
                  <a:schemeClr val="bg1"/>
                </a:solidFill>
                <a:cs typeface="+mn-ea"/>
                <a:sym typeface="+mn-lt"/>
              </a:rPr>
              <a:t>文件），并发送给从节点。随后，主节点将所有新的写操作记录发送到从节点。</a:t>
            </a:r>
          </a:p>
          <a:p>
            <a:pPr defTabSz="1216817">
              <a:lnSpc>
                <a:spcPct val="120000"/>
              </a:lnSpc>
              <a:spcBef>
                <a:spcPct val="20000"/>
              </a:spcBef>
            </a:pPr>
            <a:endParaRPr lang="zh-CN" altLang="en-US" sz="1400" b="1" dirty="0">
              <a:solidFill>
                <a:schemeClr val="bg1"/>
              </a:solidFill>
              <a:cs typeface="+mn-ea"/>
              <a:sym typeface="+mn-lt"/>
            </a:endParaRPr>
          </a:p>
          <a:p>
            <a:pPr defTabSz="1216817">
              <a:lnSpc>
                <a:spcPct val="120000"/>
              </a:lnSpc>
              <a:spcBef>
                <a:spcPct val="20000"/>
              </a:spcBef>
            </a:pPr>
            <a:r>
              <a:rPr lang="zh-CN" altLang="en-US" sz="1400" b="1" dirty="0">
                <a:solidFill>
                  <a:schemeClr val="bg1"/>
                </a:solidFill>
                <a:cs typeface="+mn-ea"/>
                <a:sym typeface="+mn-lt"/>
              </a:rPr>
              <a:t>增量同步：在初次同步之后，从节点会监听并接收主节点上产生的写操作命令，并执行这些操作以保持数据一致性。</a:t>
            </a:r>
          </a:p>
          <a:p>
            <a:pPr defTabSz="1216817">
              <a:lnSpc>
                <a:spcPct val="120000"/>
              </a:lnSpc>
              <a:spcBef>
                <a:spcPct val="20000"/>
              </a:spcBef>
            </a:pPr>
            <a:endParaRPr lang="zh-CN" altLang="en-US" sz="1400" b="1" dirty="0">
              <a:solidFill>
                <a:schemeClr val="bg1"/>
              </a:solidFill>
              <a:cs typeface="+mn-ea"/>
              <a:sym typeface="+mn-lt"/>
            </a:endParaRPr>
          </a:p>
        </p:txBody>
      </p:sp>
      <p:sp>
        <p:nvSpPr>
          <p:cNvPr id="74" name="文本框 73"/>
          <p:cNvSpPr txBox="1"/>
          <p:nvPr/>
        </p:nvSpPr>
        <p:spPr>
          <a:xfrm>
            <a:off x="3844145" y="317918"/>
            <a:ext cx="4480560" cy="461665"/>
          </a:xfrm>
          <a:prstGeom prst="rect">
            <a:avLst/>
          </a:prstGeom>
          <a:noFill/>
        </p:spPr>
        <p:txBody>
          <a:bodyPr wrap="square" rtlCol="0">
            <a:spAutoFit/>
          </a:bodyPr>
          <a:lstStyle/>
          <a:p>
            <a:pPr algn="ctr"/>
            <a:r>
              <a:rPr lang="en-US" altLang="zh-CN" sz="2400" b="1" dirty="0">
                <a:solidFill>
                  <a:schemeClr val="bg1"/>
                </a:solidFill>
                <a:latin typeface="+mj-ea"/>
                <a:ea typeface="+mj-ea"/>
              </a:rPr>
              <a:t>Redis </a:t>
            </a:r>
            <a:r>
              <a:rPr lang="zh-CN" altLang="en-US" sz="2400" b="1" dirty="0">
                <a:solidFill>
                  <a:schemeClr val="bg1"/>
                </a:solidFill>
                <a:latin typeface="+mj-ea"/>
                <a:ea typeface="+mj-ea"/>
              </a:rPr>
              <a:t>的主从复制架构</a:t>
            </a:r>
          </a:p>
        </p:txBody>
      </p:sp>
      <p:pic>
        <p:nvPicPr>
          <p:cNvPr id="3" name="图片 2">
            <a:extLst>
              <a:ext uri="{FF2B5EF4-FFF2-40B4-BE49-F238E27FC236}">
                <a16:creationId xmlns:a16="http://schemas.microsoft.com/office/drawing/2014/main" id="{99E572D5-CE96-F4AA-6EF7-2C16C66A4DC8}"/>
              </a:ext>
            </a:extLst>
          </p:cNvPr>
          <p:cNvPicPr>
            <a:picLocks noChangeAspect="1"/>
          </p:cNvPicPr>
          <p:nvPr/>
        </p:nvPicPr>
        <p:blipFill>
          <a:blip r:embed="rId3"/>
          <a:stretch>
            <a:fillRect/>
          </a:stretch>
        </p:blipFill>
        <p:spPr>
          <a:xfrm>
            <a:off x="5963329" y="1185881"/>
            <a:ext cx="5728889" cy="5423348"/>
          </a:xfrm>
          <a:prstGeom prst="rect">
            <a:avLst/>
          </a:prstGeom>
        </p:spPr>
      </p:pic>
    </p:spTree>
    <p:extLst>
      <p:ext uri="{BB962C8B-B14F-4D97-AF65-F5344CB8AC3E}">
        <p14:creationId xmlns:p14="http://schemas.microsoft.com/office/powerpoint/2010/main" val="253355228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文本框 38"/>
          <p:cNvSpPr txBox="1"/>
          <p:nvPr/>
        </p:nvSpPr>
        <p:spPr>
          <a:xfrm>
            <a:off x="758738" y="1454998"/>
            <a:ext cx="4327869" cy="3948004"/>
          </a:xfrm>
          <a:prstGeom prst="rect">
            <a:avLst/>
          </a:prstGeom>
          <a:noFill/>
        </p:spPr>
        <p:txBody>
          <a:bodyPr wrap="square" rtlCol="0">
            <a:spAutoFit/>
          </a:bodyPr>
          <a:lstStyle/>
          <a:p>
            <a:pPr defTabSz="1216817">
              <a:lnSpc>
                <a:spcPct val="120000"/>
              </a:lnSpc>
              <a:spcBef>
                <a:spcPct val="20000"/>
              </a:spcBef>
            </a:pPr>
            <a:r>
              <a:rPr lang="zh-CN" altLang="en-US" sz="1400" b="1" dirty="0">
                <a:solidFill>
                  <a:schemeClr val="bg1"/>
                </a:solidFill>
                <a:cs typeface="+mn-ea"/>
                <a:sym typeface="+mn-lt"/>
              </a:rPr>
              <a:t>哨兵模式是 </a:t>
            </a:r>
            <a:r>
              <a:rPr lang="en-US" altLang="zh-CN" sz="1400" b="1" dirty="0">
                <a:solidFill>
                  <a:schemeClr val="bg1"/>
                </a:solidFill>
                <a:cs typeface="+mn-ea"/>
                <a:sym typeface="+mn-lt"/>
              </a:rPr>
              <a:t>Redis </a:t>
            </a:r>
            <a:r>
              <a:rPr lang="zh-CN" altLang="en-US" sz="1400" b="1" dirty="0">
                <a:solidFill>
                  <a:schemeClr val="bg1"/>
                </a:solidFill>
                <a:cs typeface="+mn-ea"/>
                <a:sym typeface="+mn-lt"/>
              </a:rPr>
              <a:t>提供的高可用解决方案，通过一组哨兵（</a:t>
            </a:r>
            <a:r>
              <a:rPr lang="en-US" altLang="zh-CN" sz="1400" b="1" dirty="0">
                <a:solidFill>
                  <a:schemeClr val="bg1"/>
                </a:solidFill>
                <a:cs typeface="+mn-ea"/>
                <a:sym typeface="+mn-lt"/>
              </a:rPr>
              <a:t>Sentinel</a:t>
            </a:r>
            <a:r>
              <a:rPr lang="zh-CN" altLang="en-US" sz="1400" b="1" dirty="0">
                <a:solidFill>
                  <a:schemeClr val="bg1"/>
                </a:solidFill>
                <a:cs typeface="+mn-ea"/>
                <a:sym typeface="+mn-lt"/>
              </a:rPr>
              <a:t>）节点监控主从实例的健康状态，实现自动故障转移和高可用性保障。</a:t>
            </a:r>
          </a:p>
          <a:p>
            <a:pPr defTabSz="1216817">
              <a:lnSpc>
                <a:spcPct val="120000"/>
              </a:lnSpc>
              <a:spcBef>
                <a:spcPct val="20000"/>
              </a:spcBef>
            </a:pPr>
            <a:endParaRPr lang="zh-CN" altLang="en-US" sz="1400" b="1" dirty="0">
              <a:solidFill>
                <a:schemeClr val="bg1"/>
              </a:solidFill>
              <a:cs typeface="+mn-ea"/>
              <a:sym typeface="+mn-lt"/>
            </a:endParaRPr>
          </a:p>
          <a:p>
            <a:pPr defTabSz="1216817">
              <a:lnSpc>
                <a:spcPct val="120000"/>
              </a:lnSpc>
              <a:spcBef>
                <a:spcPct val="20000"/>
              </a:spcBef>
            </a:pPr>
            <a:r>
              <a:rPr lang="zh-CN" altLang="en-US" sz="1400" b="1" dirty="0">
                <a:solidFill>
                  <a:schemeClr val="bg1"/>
                </a:solidFill>
                <a:cs typeface="+mn-ea"/>
                <a:sym typeface="+mn-lt"/>
              </a:rPr>
              <a:t>主从监控：多个哨兵节点不断监控主从实例，检查主库的健康状态。当主库不可用时，哨兵集群会协商选举一个新的主库，并将其他从库指向新的主库。</a:t>
            </a:r>
          </a:p>
          <a:p>
            <a:pPr defTabSz="1216817">
              <a:lnSpc>
                <a:spcPct val="120000"/>
              </a:lnSpc>
              <a:spcBef>
                <a:spcPct val="20000"/>
              </a:spcBef>
            </a:pPr>
            <a:endParaRPr lang="zh-CN" altLang="en-US" sz="1400" b="1" dirty="0">
              <a:solidFill>
                <a:schemeClr val="bg1"/>
              </a:solidFill>
              <a:cs typeface="+mn-ea"/>
              <a:sym typeface="+mn-lt"/>
            </a:endParaRPr>
          </a:p>
          <a:p>
            <a:pPr defTabSz="1216817">
              <a:lnSpc>
                <a:spcPct val="120000"/>
              </a:lnSpc>
              <a:spcBef>
                <a:spcPct val="20000"/>
              </a:spcBef>
            </a:pPr>
            <a:r>
              <a:rPr lang="zh-CN" altLang="en-US" sz="1400" b="1" dirty="0">
                <a:solidFill>
                  <a:schemeClr val="bg1"/>
                </a:solidFill>
                <a:cs typeface="+mn-ea"/>
                <a:sym typeface="+mn-lt"/>
              </a:rPr>
              <a:t>自动故障转移：当主库宕机时，哨兵会自动将其中一个从库提升为主库，并通知应用程序更新主库的连接信息，确保系统在故障时能够自动恢复。</a:t>
            </a:r>
          </a:p>
          <a:p>
            <a:pPr defTabSz="1216817">
              <a:lnSpc>
                <a:spcPct val="120000"/>
              </a:lnSpc>
              <a:spcBef>
                <a:spcPct val="20000"/>
              </a:spcBef>
            </a:pPr>
            <a:endParaRPr lang="zh-CN" altLang="en-US" sz="1400" b="1" dirty="0">
              <a:solidFill>
                <a:schemeClr val="bg1"/>
              </a:solidFill>
              <a:cs typeface="+mn-ea"/>
              <a:sym typeface="+mn-lt"/>
            </a:endParaRPr>
          </a:p>
          <a:p>
            <a:pPr defTabSz="1216817">
              <a:lnSpc>
                <a:spcPct val="120000"/>
              </a:lnSpc>
              <a:spcBef>
                <a:spcPct val="20000"/>
              </a:spcBef>
            </a:pPr>
            <a:r>
              <a:rPr lang="zh-CN" altLang="en-US" sz="1400" b="1" dirty="0">
                <a:solidFill>
                  <a:schemeClr val="bg1"/>
                </a:solidFill>
                <a:cs typeface="+mn-ea"/>
                <a:sym typeface="+mn-lt"/>
              </a:rPr>
              <a:t>通知机制：哨兵会向客户端发送故障转移通知，使应用程序能够快速调整并重新连接到新的主库。</a:t>
            </a:r>
            <a:endParaRPr lang="en-US" altLang="zh-CN" sz="1400" b="1" dirty="0">
              <a:solidFill>
                <a:schemeClr val="bg1"/>
              </a:solidFill>
              <a:cs typeface="+mn-ea"/>
              <a:sym typeface="+mn-lt"/>
            </a:endParaRPr>
          </a:p>
        </p:txBody>
      </p:sp>
      <p:sp>
        <p:nvSpPr>
          <p:cNvPr id="74" name="文本框 73"/>
          <p:cNvSpPr txBox="1"/>
          <p:nvPr/>
        </p:nvSpPr>
        <p:spPr>
          <a:xfrm>
            <a:off x="3844145" y="317918"/>
            <a:ext cx="4480560" cy="461665"/>
          </a:xfrm>
          <a:prstGeom prst="rect">
            <a:avLst/>
          </a:prstGeom>
          <a:noFill/>
        </p:spPr>
        <p:txBody>
          <a:bodyPr wrap="square" rtlCol="0">
            <a:spAutoFit/>
          </a:bodyPr>
          <a:lstStyle/>
          <a:p>
            <a:pPr algn="ctr"/>
            <a:r>
              <a:rPr lang="en-US" altLang="zh-CN" sz="2400" b="1" dirty="0">
                <a:solidFill>
                  <a:schemeClr val="bg1"/>
                </a:solidFill>
                <a:latin typeface="+mj-ea"/>
                <a:ea typeface="+mj-ea"/>
              </a:rPr>
              <a:t>Redis </a:t>
            </a:r>
            <a:r>
              <a:rPr lang="zh-CN" altLang="en-US" sz="2400" b="1" dirty="0">
                <a:solidFill>
                  <a:schemeClr val="bg1"/>
                </a:solidFill>
                <a:latin typeface="+mj-ea"/>
                <a:ea typeface="+mj-ea"/>
              </a:rPr>
              <a:t>哨兵模式（</a:t>
            </a:r>
            <a:r>
              <a:rPr lang="en-US" altLang="zh-CN" sz="2400" b="1" dirty="0">
                <a:solidFill>
                  <a:schemeClr val="bg1"/>
                </a:solidFill>
                <a:latin typeface="+mj-ea"/>
                <a:ea typeface="+mj-ea"/>
              </a:rPr>
              <a:t>Sentinel</a:t>
            </a:r>
            <a:r>
              <a:rPr lang="zh-CN" altLang="en-US" sz="2400" b="1" dirty="0">
                <a:solidFill>
                  <a:schemeClr val="bg1"/>
                </a:solidFill>
                <a:latin typeface="+mj-ea"/>
                <a:ea typeface="+mj-ea"/>
              </a:rPr>
              <a:t>）</a:t>
            </a:r>
          </a:p>
        </p:txBody>
      </p:sp>
      <p:pic>
        <p:nvPicPr>
          <p:cNvPr id="3" name="图片 2">
            <a:extLst>
              <a:ext uri="{FF2B5EF4-FFF2-40B4-BE49-F238E27FC236}">
                <a16:creationId xmlns:a16="http://schemas.microsoft.com/office/drawing/2014/main" id="{392DAF8A-A4CB-BCEA-A45A-4D4E8321513B}"/>
              </a:ext>
            </a:extLst>
          </p:cNvPr>
          <p:cNvPicPr>
            <a:picLocks noChangeAspect="1"/>
          </p:cNvPicPr>
          <p:nvPr/>
        </p:nvPicPr>
        <p:blipFill>
          <a:blip r:embed="rId3"/>
          <a:stretch>
            <a:fillRect/>
          </a:stretch>
        </p:blipFill>
        <p:spPr>
          <a:xfrm>
            <a:off x="5989942" y="2212041"/>
            <a:ext cx="5494404" cy="2959302"/>
          </a:xfrm>
          <a:prstGeom prst="rect">
            <a:avLst/>
          </a:prstGeom>
        </p:spPr>
      </p:pic>
    </p:spTree>
    <p:extLst>
      <p:ext uri="{BB962C8B-B14F-4D97-AF65-F5344CB8AC3E}">
        <p14:creationId xmlns:p14="http://schemas.microsoft.com/office/powerpoint/2010/main" val="362502708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文本框 38"/>
          <p:cNvSpPr txBox="1"/>
          <p:nvPr/>
        </p:nvSpPr>
        <p:spPr>
          <a:xfrm>
            <a:off x="758738" y="1857544"/>
            <a:ext cx="4327869" cy="3043141"/>
          </a:xfrm>
          <a:prstGeom prst="rect">
            <a:avLst/>
          </a:prstGeom>
          <a:noFill/>
        </p:spPr>
        <p:txBody>
          <a:bodyPr wrap="square" rtlCol="0">
            <a:spAutoFit/>
          </a:bodyPr>
          <a:lstStyle/>
          <a:p>
            <a:pPr defTabSz="1216817">
              <a:lnSpc>
                <a:spcPct val="120000"/>
              </a:lnSpc>
              <a:spcBef>
                <a:spcPct val="20000"/>
              </a:spcBef>
            </a:pPr>
            <a:r>
              <a:rPr lang="zh-CN" altLang="en-US" sz="1400" b="1" dirty="0">
                <a:solidFill>
                  <a:schemeClr val="bg1"/>
                </a:solidFill>
                <a:cs typeface="+mn-ea"/>
                <a:sym typeface="+mn-lt"/>
              </a:rPr>
              <a:t>集群模式的工作原理：</a:t>
            </a:r>
          </a:p>
          <a:p>
            <a:pPr defTabSz="1216817">
              <a:lnSpc>
                <a:spcPct val="120000"/>
              </a:lnSpc>
              <a:spcBef>
                <a:spcPct val="20000"/>
              </a:spcBef>
            </a:pPr>
            <a:r>
              <a:rPr lang="en-US" altLang="zh-CN" sz="1400" b="1" dirty="0">
                <a:solidFill>
                  <a:schemeClr val="bg1"/>
                </a:solidFill>
                <a:cs typeface="+mn-ea"/>
                <a:sym typeface="+mn-lt"/>
              </a:rPr>
              <a:t>Redis Cluster </a:t>
            </a:r>
            <a:r>
              <a:rPr lang="zh-CN" altLang="en-US" sz="1400" b="1" dirty="0">
                <a:solidFill>
                  <a:schemeClr val="bg1"/>
                </a:solidFill>
                <a:cs typeface="+mn-ea"/>
                <a:sym typeface="+mn-lt"/>
              </a:rPr>
              <a:t>将数据分为 </a:t>
            </a:r>
            <a:r>
              <a:rPr lang="en-US" altLang="zh-CN" sz="1400" b="1" dirty="0">
                <a:solidFill>
                  <a:schemeClr val="bg1"/>
                </a:solidFill>
                <a:cs typeface="+mn-ea"/>
                <a:sym typeface="+mn-lt"/>
              </a:rPr>
              <a:t>16384 </a:t>
            </a:r>
            <a:r>
              <a:rPr lang="zh-CN" altLang="en-US" sz="1400" b="1" dirty="0">
                <a:solidFill>
                  <a:schemeClr val="bg1"/>
                </a:solidFill>
                <a:cs typeface="+mn-ea"/>
                <a:sym typeface="+mn-lt"/>
              </a:rPr>
              <a:t>个哈希槽，每个节点负责一定范围的哈希槽。当客户端发起请求时，</a:t>
            </a:r>
            <a:r>
              <a:rPr lang="en-US" altLang="zh-CN" sz="1400" b="1" dirty="0">
                <a:solidFill>
                  <a:schemeClr val="bg1"/>
                </a:solidFill>
                <a:cs typeface="+mn-ea"/>
                <a:sym typeface="+mn-lt"/>
              </a:rPr>
              <a:t>Redis </a:t>
            </a:r>
            <a:r>
              <a:rPr lang="zh-CN" altLang="en-US" sz="1400" b="1" dirty="0">
                <a:solidFill>
                  <a:schemeClr val="bg1"/>
                </a:solidFill>
                <a:cs typeface="+mn-ea"/>
                <a:sym typeface="+mn-lt"/>
              </a:rPr>
              <a:t>使用一致性哈希算法将键映射到相应的槽位，并将请求路由到存储该槽的节点上。</a:t>
            </a:r>
          </a:p>
          <a:p>
            <a:pPr defTabSz="1216817">
              <a:lnSpc>
                <a:spcPct val="120000"/>
              </a:lnSpc>
              <a:spcBef>
                <a:spcPct val="20000"/>
              </a:spcBef>
            </a:pPr>
            <a:endParaRPr lang="zh-CN" altLang="en-US" sz="1400" b="1" dirty="0">
              <a:solidFill>
                <a:schemeClr val="bg1"/>
              </a:solidFill>
              <a:cs typeface="+mn-ea"/>
              <a:sym typeface="+mn-lt"/>
            </a:endParaRPr>
          </a:p>
          <a:p>
            <a:pPr defTabSz="1216817">
              <a:lnSpc>
                <a:spcPct val="120000"/>
              </a:lnSpc>
              <a:spcBef>
                <a:spcPct val="20000"/>
              </a:spcBef>
            </a:pPr>
            <a:r>
              <a:rPr lang="zh-CN" altLang="en-US" sz="1400" b="1" dirty="0">
                <a:solidFill>
                  <a:schemeClr val="bg1"/>
                </a:solidFill>
                <a:cs typeface="+mn-ea"/>
                <a:sym typeface="+mn-lt"/>
              </a:rPr>
              <a:t>每个节点都有一个或多个从节点作为备份，当主节点故障时，从节点会自动接管，保证数据的可用性和一致性。如果客户端请求的键不在当前节点上，</a:t>
            </a:r>
            <a:r>
              <a:rPr lang="en-US" altLang="zh-CN" sz="1400" b="1" dirty="0">
                <a:solidFill>
                  <a:schemeClr val="bg1"/>
                </a:solidFill>
                <a:cs typeface="+mn-ea"/>
                <a:sym typeface="+mn-lt"/>
              </a:rPr>
              <a:t>Redis Cluster </a:t>
            </a:r>
            <a:r>
              <a:rPr lang="zh-CN" altLang="en-US" sz="1400" b="1" dirty="0">
                <a:solidFill>
                  <a:schemeClr val="bg1"/>
                </a:solidFill>
                <a:cs typeface="+mn-ea"/>
                <a:sym typeface="+mn-lt"/>
              </a:rPr>
              <a:t>会返回重定向信息，客户端重新向正确的节点发起请求。</a:t>
            </a:r>
            <a:endParaRPr lang="en-US" altLang="zh-CN" sz="1400" b="1" dirty="0">
              <a:solidFill>
                <a:schemeClr val="bg1"/>
              </a:solidFill>
              <a:cs typeface="+mn-ea"/>
              <a:sym typeface="+mn-lt"/>
            </a:endParaRPr>
          </a:p>
        </p:txBody>
      </p:sp>
      <p:sp>
        <p:nvSpPr>
          <p:cNvPr id="74" name="文本框 73"/>
          <p:cNvSpPr txBox="1"/>
          <p:nvPr/>
        </p:nvSpPr>
        <p:spPr>
          <a:xfrm>
            <a:off x="3311971" y="378430"/>
            <a:ext cx="5568058" cy="461665"/>
          </a:xfrm>
          <a:prstGeom prst="rect">
            <a:avLst/>
          </a:prstGeom>
          <a:noFill/>
        </p:spPr>
        <p:txBody>
          <a:bodyPr wrap="square" rtlCol="0">
            <a:spAutoFit/>
          </a:bodyPr>
          <a:lstStyle/>
          <a:p>
            <a:pPr algn="ctr"/>
            <a:r>
              <a:rPr lang="en-US" altLang="zh-CN" sz="2400" b="1" dirty="0">
                <a:solidFill>
                  <a:schemeClr val="bg1"/>
                </a:solidFill>
                <a:latin typeface="+mj-ea"/>
                <a:ea typeface="+mj-ea"/>
              </a:rPr>
              <a:t>Redis </a:t>
            </a:r>
            <a:r>
              <a:rPr lang="zh-CN" altLang="en-US" sz="2400" b="1" dirty="0">
                <a:solidFill>
                  <a:schemeClr val="bg1"/>
                </a:solidFill>
                <a:latin typeface="+mj-ea"/>
                <a:ea typeface="+mj-ea"/>
              </a:rPr>
              <a:t>集群模式（</a:t>
            </a:r>
            <a:r>
              <a:rPr lang="en-US" altLang="zh-CN" sz="2400" b="1" dirty="0">
                <a:solidFill>
                  <a:schemeClr val="bg1"/>
                </a:solidFill>
                <a:latin typeface="+mj-ea"/>
                <a:ea typeface="+mj-ea"/>
              </a:rPr>
              <a:t>Redis Cluster</a:t>
            </a:r>
            <a:r>
              <a:rPr lang="zh-CN" altLang="en-US" sz="2400" b="1" dirty="0">
                <a:solidFill>
                  <a:schemeClr val="bg1"/>
                </a:solidFill>
                <a:latin typeface="+mj-ea"/>
                <a:ea typeface="+mj-ea"/>
              </a:rPr>
              <a:t>）</a:t>
            </a:r>
          </a:p>
        </p:txBody>
      </p:sp>
      <p:pic>
        <p:nvPicPr>
          <p:cNvPr id="3" name="图片 2">
            <a:extLst>
              <a:ext uri="{FF2B5EF4-FFF2-40B4-BE49-F238E27FC236}">
                <a16:creationId xmlns:a16="http://schemas.microsoft.com/office/drawing/2014/main" id="{85D48A9B-2953-9FE4-72AC-098AA2369A17}"/>
              </a:ext>
            </a:extLst>
          </p:cNvPr>
          <p:cNvPicPr>
            <a:picLocks noChangeAspect="1"/>
          </p:cNvPicPr>
          <p:nvPr/>
        </p:nvPicPr>
        <p:blipFill>
          <a:blip r:embed="rId3"/>
          <a:stretch>
            <a:fillRect/>
          </a:stretch>
        </p:blipFill>
        <p:spPr>
          <a:xfrm>
            <a:off x="5783780" y="2303353"/>
            <a:ext cx="6049632" cy="2251294"/>
          </a:xfrm>
          <a:prstGeom prst="rect">
            <a:avLst/>
          </a:prstGeom>
        </p:spPr>
      </p:pic>
    </p:spTree>
    <p:extLst>
      <p:ext uri="{BB962C8B-B14F-4D97-AF65-F5344CB8AC3E}">
        <p14:creationId xmlns:p14="http://schemas.microsoft.com/office/powerpoint/2010/main" val="239711123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等腰三角形 2"/>
          <p:cNvSpPr/>
          <p:nvPr/>
        </p:nvSpPr>
        <p:spPr>
          <a:xfrm rot="16200000" flipV="1">
            <a:off x="-316629" y="1426842"/>
            <a:ext cx="4630086" cy="3991456"/>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p:cNvSpPr/>
          <p:nvPr/>
        </p:nvSpPr>
        <p:spPr>
          <a:xfrm rot="16200000" flipH="1" flipV="1">
            <a:off x="803610" y="5456558"/>
            <a:ext cx="1931640" cy="1665208"/>
          </a:xfrm>
          <a:prstGeom prst="triangl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等腰三角形 4"/>
          <p:cNvSpPr/>
          <p:nvPr/>
        </p:nvSpPr>
        <p:spPr>
          <a:xfrm rot="16200000" flipH="1">
            <a:off x="2586755" y="1826415"/>
            <a:ext cx="1511638" cy="1303136"/>
          </a:xfrm>
          <a:prstGeom prst="triangl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等腰三角形 5"/>
          <p:cNvSpPr/>
          <p:nvPr/>
        </p:nvSpPr>
        <p:spPr>
          <a:xfrm rot="16200000" flipH="1">
            <a:off x="-705677" y="902094"/>
            <a:ext cx="1160005" cy="1000004"/>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p:nvSpPr>
        <p:spPr>
          <a:xfrm rot="16200000" flipH="1">
            <a:off x="691643" y="500873"/>
            <a:ext cx="881342" cy="759777"/>
          </a:xfrm>
          <a:prstGeom prst="triangl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p:nvSpPr>
        <p:spPr>
          <a:xfrm rot="16200000" flipH="1">
            <a:off x="-300255" y="5881715"/>
            <a:ext cx="628989" cy="542232"/>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p:nvSpPr>
        <p:spPr>
          <a:xfrm rot="16200000" flipH="1">
            <a:off x="1320310" y="7399925"/>
            <a:ext cx="350641" cy="302277"/>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rot="16200000" flipH="1" flipV="1">
            <a:off x="1488021" y="-668880"/>
            <a:ext cx="350641" cy="302277"/>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rot="16200000" flipH="1" flipV="1">
            <a:off x="3912597" y="5855572"/>
            <a:ext cx="249918" cy="215446"/>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p:nvSpPr>
        <p:spPr>
          <a:xfrm rot="16200000" flipH="1">
            <a:off x="-680788" y="-585350"/>
            <a:ext cx="1037711" cy="894578"/>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p:nvSpPr>
        <p:spPr>
          <a:xfrm rot="16200000" flipH="1" flipV="1">
            <a:off x="-1151942" y="-844201"/>
            <a:ext cx="350641" cy="302277"/>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4239" y="1863220"/>
            <a:ext cx="2496342" cy="3154710"/>
          </a:xfrm>
          <a:prstGeom prst="rect">
            <a:avLst/>
          </a:prstGeom>
          <a:noFill/>
        </p:spPr>
        <p:txBody>
          <a:bodyPr wrap="square" rtlCol="0">
            <a:spAutoFit/>
          </a:bodyPr>
          <a:lstStyle/>
          <a:p>
            <a:pPr algn="ctr"/>
            <a:r>
              <a:rPr lang="en-US" altLang="zh-CN" sz="19900" dirty="0">
                <a:solidFill>
                  <a:schemeClr val="bg1"/>
                </a:solidFill>
                <a:latin typeface="张海山锐谐体" panose="02000000000000000000" pitchFamily="2" charset="-122"/>
                <a:ea typeface="张海山锐谐体" panose="02000000000000000000" pitchFamily="2" charset="-122"/>
              </a:rPr>
              <a:t>4</a:t>
            </a:r>
            <a:endParaRPr lang="zh-CN" altLang="en-US" sz="19900" dirty="0">
              <a:solidFill>
                <a:schemeClr val="bg1"/>
              </a:solidFill>
              <a:latin typeface="张海山锐谐体" panose="02000000000000000000" pitchFamily="2" charset="-122"/>
              <a:ea typeface="张海山锐谐体" panose="02000000000000000000" pitchFamily="2" charset="-122"/>
            </a:endParaRPr>
          </a:p>
        </p:txBody>
      </p:sp>
      <p:sp>
        <p:nvSpPr>
          <p:cNvPr id="15" name="文本框 14"/>
          <p:cNvSpPr txBox="1"/>
          <p:nvPr/>
        </p:nvSpPr>
        <p:spPr>
          <a:xfrm>
            <a:off x="4622505" y="585685"/>
            <a:ext cx="6697270" cy="2339102"/>
          </a:xfrm>
          <a:prstGeom prst="rect">
            <a:avLst/>
          </a:prstGeom>
          <a:noFill/>
        </p:spPr>
        <p:txBody>
          <a:bodyPr wrap="square" rtlCol="0">
            <a:spAutoFit/>
          </a:bodyPr>
          <a:lstStyle/>
          <a:p>
            <a:pPr algn="ctr"/>
            <a:r>
              <a:rPr lang="zh-CN" altLang="en-US" sz="3200" dirty="0">
                <a:solidFill>
                  <a:schemeClr val="bg1"/>
                </a:solidFill>
                <a:latin typeface="张海山锐谐体" panose="02000000000000000000" pitchFamily="2" charset="-122"/>
                <a:ea typeface="张海山锐谐体" panose="02000000000000000000" pitchFamily="2" charset="-122"/>
              </a:rPr>
              <a:t>分布式系统中的综合应用</a:t>
            </a:r>
            <a:endParaRPr lang="en-US" altLang="zh-CN" sz="3200" dirty="0">
              <a:solidFill>
                <a:schemeClr val="bg1"/>
              </a:solidFill>
              <a:latin typeface="张海山锐谐体" panose="02000000000000000000" pitchFamily="2" charset="-122"/>
              <a:ea typeface="张海山锐谐体" panose="02000000000000000000" pitchFamily="2" charset="-122"/>
            </a:endParaRPr>
          </a:p>
          <a:p>
            <a:pPr algn="ctr"/>
            <a:endParaRPr lang="en-US" altLang="zh-CN" sz="3200" dirty="0">
              <a:solidFill>
                <a:schemeClr val="bg1"/>
              </a:solidFill>
              <a:latin typeface="张海山锐谐体" panose="02000000000000000000" pitchFamily="2" charset="-122"/>
              <a:ea typeface="张海山锐谐体" panose="02000000000000000000" pitchFamily="2" charset="-122"/>
            </a:endParaRPr>
          </a:p>
          <a:p>
            <a:pPr algn="ctr"/>
            <a:r>
              <a:rPr lang="zh-CN" altLang="en-US" sz="3200" dirty="0">
                <a:solidFill>
                  <a:schemeClr val="bg1"/>
                </a:solidFill>
                <a:latin typeface="张海山锐谐体" panose="02000000000000000000" pitchFamily="2" charset="-122"/>
                <a:ea typeface="张海山锐谐体" panose="02000000000000000000" pitchFamily="2" charset="-122"/>
              </a:rPr>
              <a:t>基于 </a:t>
            </a:r>
            <a:r>
              <a:rPr lang="en-US" altLang="zh-CN" sz="3200" dirty="0">
                <a:solidFill>
                  <a:schemeClr val="bg1"/>
                </a:solidFill>
                <a:latin typeface="张海山锐谐体" panose="02000000000000000000" pitchFamily="2" charset="-122"/>
                <a:ea typeface="张海山锐谐体" panose="02000000000000000000" pitchFamily="2" charset="-122"/>
              </a:rPr>
              <a:t>Spring Boot</a:t>
            </a:r>
            <a:r>
              <a:rPr lang="zh-CN" altLang="en-US" sz="3200" dirty="0">
                <a:solidFill>
                  <a:schemeClr val="bg1"/>
                </a:solidFill>
                <a:latin typeface="张海山锐谐体" panose="02000000000000000000" pitchFamily="2" charset="-122"/>
                <a:ea typeface="张海山锐谐体" panose="02000000000000000000" pitchFamily="2" charset="-122"/>
              </a:rPr>
              <a:t>、</a:t>
            </a:r>
            <a:r>
              <a:rPr lang="en-US" altLang="zh-CN" sz="3200" dirty="0">
                <a:solidFill>
                  <a:schemeClr val="bg1"/>
                </a:solidFill>
                <a:latin typeface="张海山锐谐体" panose="02000000000000000000" pitchFamily="2" charset="-122"/>
                <a:ea typeface="张海山锐谐体" panose="02000000000000000000" pitchFamily="2" charset="-122"/>
              </a:rPr>
              <a:t>MySQL</a:t>
            </a:r>
            <a:r>
              <a:rPr lang="zh-CN" altLang="en-US" sz="3200" dirty="0">
                <a:solidFill>
                  <a:schemeClr val="bg1"/>
                </a:solidFill>
                <a:latin typeface="张海山锐谐体" panose="02000000000000000000" pitchFamily="2" charset="-122"/>
                <a:ea typeface="张海山锐谐体" panose="02000000000000000000" pitchFamily="2" charset="-122"/>
              </a:rPr>
              <a:t>、</a:t>
            </a:r>
            <a:r>
              <a:rPr lang="en-US" altLang="zh-CN" sz="3200" dirty="0">
                <a:solidFill>
                  <a:schemeClr val="bg1"/>
                </a:solidFill>
                <a:latin typeface="张海山锐谐体" panose="02000000000000000000" pitchFamily="2" charset="-122"/>
                <a:ea typeface="张海山锐谐体" panose="02000000000000000000" pitchFamily="2" charset="-122"/>
              </a:rPr>
              <a:t>Redis </a:t>
            </a:r>
            <a:r>
              <a:rPr lang="zh-CN" altLang="en-US" sz="3200" dirty="0">
                <a:solidFill>
                  <a:schemeClr val="bg1"/>
                </a:solidFill>
                <a:latin typeface="张海山锐谐体" panose="02000000000000000000" pitchFamily="2" charset="-122"/>
                <a:ea typeface="张海山锐谐体" panose="02000000000000000000" pitchFamily="2" charset="-122"/>
              </a:rPr>
              <a:t>和 </a:t>
            </a:r>
            <a:r>
              <a:rPr lang="en-US" altLang="zh-CN" sz="3200" dirty="0">
                <a:solidFill>
                  <a:schemeClr val="bg1"/>
                </a:solidFill>
                <a:latin typeface="张海山锐谐体" panose="02000000000000000000" pitchFamily="2" charset="-122"/>
                <a:ea typeface="张海山锐谐体" panose="02000000000000000000" pitchFamily="2" charset="-122"/>
              </a:rPr>
              <a:t>RabbitMQ </a:t>
            </a:r>
            <a:r>
              <a:rPr lang="zh-CN" altLang="en-US" sz="3200" dirty="0">
                <a:solidFill>
                  <a:schemeClr val="bg1"/>
                </a:solidFill>
                <a:latin typeface="张海山锐谐体" panose="02000000000000000000" pitchFamily="2" charset="-122"/>
                <a:ea typeface="张海山锐谐体" panose="02000000000000000000" pitchFamily="2" charset="-122"/>
              </a:rPr>
              <a:t>架构的秒杀系统</a:t>
            </a:r>
            <a:endParaRPr lang="en-US" altLang="zh-CN" sz="3200" dirty="0">
              <a:solidFill>
                <a:schemeClr val="bg1"/>
              </a:solidFill>
              <a:latin typeface="张海山锐谐体" panose="02000000000000000000" pitchFamily="2" charset="-122"/>
              <a:ea typeface="张海山锐谐体" panose="02000000000000000000" pitchFamily="2" charset="-122"/>
            </a:endParaRPr>
          </a:p>
          <a:p>
            <a:pPr algn="ctr"/>
            <a:endParaRPr lang="zh-CN" altLang="en-US" sz="1800" dirty="0">
              <a:solidFill>
                <a:schemeClr val="bg1"/>
              </a:solidFill>
              <a:latin typeface="张海山锐谐体" panose="02000000000000000000" pitchFamily="2" charset="-122"/>
              <a:ea typeface="张海山锐谐体" panose="02000000000000000000" pitchFamily="2" charset="-122"/>
            </a:endParaRPr>
          </a:p>
        </p:txBody>
      </p:sp>
      <p:sp>
        <p:nvSpPr>
          <p:cNvPr id="16" name="文本框 15"/>
          <p:cNvSpPr txBox="1"/>
          <p:nvPr/>
        </p:nvSpPr>
        <p:spPr>
          <a:xfrm>
            <a:off x="4956146" y="3013510"/>
            <a:ext cx="6029987" cy="313932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chemeClr val="bg1"/>
                </a:solidFill>
              </a:rPr>
              <a:t>Spring Boot</a:t>
            </a:r>
            <a:r>
              <a:rPr lang="zh-CN" altLang="en-US" b="1" dirty="0">
                <a:solidFill>
                  <a:schemeClr val="bg1"/>
                </a:solidFill>
              </a:rPr>
              <a:t>：提供 </a:t>
            </a:r>
            <a:r>
              <a:rPr lang="en-US" altLang="zh-CN" b="1" dirty="0">
                <a:solidFill>
                  <a:schemeClr val="bg1"/>
                </a:solidFill>
              </a:rPr>
              <a:t>RESTful </a:t>
            </a:r>
            <a:r>
              <a:rPr lang="zh-CN" altLang="en-US" b="1" dirty="0">
                <a:solidFill>
                  <a:schemeClr val="bg1"/>
                </a:solidFill>
              </a:rPr>
              <a:t>接口和后端逻辑处理，整合 </a:t>
            </a:r>
            <a:r>
              <a:rPr lang="en-US" altLang="zh-CN" b="1" dirty="0">
                <a:solidFill>
                  <a:schemeClr val="bg1"/>
                </a:solidFill>
              </a:rPr>
              <a:t>MySQL</a:t>
            </a:r>
            <a:r>
              <a:rPr lang="zh-CN" altLang="en-US" b="1" dirty="0">
                <a:solidFill>
                  <a:schemeClr val="bg1"/>
                </a:solidFill>
              </a:rPr>
              <a:t>、</a:t>
            </a:r>
            <a:r>
              <a:rPr lang="en-US" altLang="zh-CN" b="1" dirty="0">
                <a:solidFill>
                  <a:schemeClr val="bg1"/>
                </a:solidFill>
              </a:rPr>
              <a:t>Redis </a:t>
            </a:r>
            <a:r>
              <a:rPr lang="zh-CN" altLang="en-US" b="1" dirty="0">
                <a:solidFill>
                  <a:schemeClr val="bg1"/>
                </a:solidFill>
              </a:rPr>
              <a:t>和 </a:t>
            </a:r>
            <a:r>
              <a:rPr lang="en-US" altLang="zh-CN" b="1" dirty="0">
                <a:solidFill>
                  <a:schemeClr val="bg1"/>
                </a:solidFill>
              </a:rPr>
              <a:t>RabbitMQ</a:t>
            </a:r>
            <a:r>
              <a:rPr lang="zh-CN" altLang="en-US" b="1" dirty="0">
                <a:solidFill>
                  <a:schemeClr val="bg1"/>
                </a:solidFill>
              </a:rPr>
              <a:t>，支持高并发访问。</a:t>
            </a:r>
            <a:endParaRPr lang="en-US" altLang="zh-CN" b="1" dirty="0">
              <a:solidFill>
                <a:schemeClr val="bg1"/>
              </a:solidFill>
            </a:endParaRPr>
          </a:p>
          <a:p>
            <a:endParaRPr lang="zh-CN" altLang="en-US" b="1" dirty="0">
              <a:solidFill>
                <a:schemeClr val="bg1"/>
              </a:solidFill>
            </a:endParaRPr>
          </a:p>
          <a:p>
            <a:r>
              <a:rPr lang="en-US" altLang="zh-CN" b="1" dirty="0">
                <a:solidFill>
                  <a:schemeClr val="bg1"/>
                </a:solidFill>
              </a:rPr>
              <a:t>MySQL</a:t>
            </a:r>
            <a:r>
              <a:rPr lang="zh-CN" altLang="en-US" b="1" dirty="0">
                <a:solidFill>
                  <a:schemeClr val="bg1"/>
                </a:solidFill>
              </a:rPr>
              <a:t>：负责存储核心的订单信息和用户信息，保证数据持久化。</a:t>
            </a:r>
            <a:endParaRPr lang="en-US" altLang="zh-CN" b="1" dirty="0">
              <a:solidFill>
                <a:schemeClr val="bg1"/>
              </a:solidFill>
            </a:endParaRPr>
          </a:p>
          <a:p>
            <a:endParaRPr lang="zh-CN" altLang="en-US" b="1" dirty="0">
              <a:solidFill>
                <a:schemeClr val="bg1"/>
              </a:solidFill>
            </a:endParaRPr>
          </a:p>
          <a:p>
            <a:r>
              <a:rPr lang="en-US" altLang="zh-CN" b="1" dirty="0">
                <a:solidFill>
                  <a:schemeClr val="bg1"/>
                </a:solidFill>
              </a:rPr>
              <a:t>Redis</a:t>
            </a:r>
            <a:r>
              <a:rPr lang="zh-CN" altLang="en-US" b="1" dirty="0">
                <a:solidFill>
                  <a:schemeClr val="bg1"/>
                </a:solidFill>
              </a:rPr>
              <a:t>：用于商品库存的缓存、请求的限流，以及处理分布式锁，防止超卖问题。</a:t>
            </a:r>
            <a:endParaRPr lang="en-US" altLang="zh-CN" b="1" dirty="0">
              <a:solidFill>
                <a:schemeClr val="bg1"/>
              </a:solidFill>
            </a:endParaRPr>
          </a:p>
          <a:p>
            <a:endParaRPr lang="zh-CN" altLang="en-US" b="1" dirty="0">
              <a:solidFill>
                <a:schemeClr val="bg1"/>
              </a:solidFill>
            </a:endParaRPr>
          </a:p>
          <a:p>
            <a:r>
              <a:rPr lang="en-US" altLang="zh-CN" b="1" dirty="0">
                <a:solidFill>
                  <a:schemeClr val="bg1"/>
                </a:solidFill>
              </a:rPr>
              <a:t>RabbitMQ</a:t>
            </a:r>
            <a:r>
              <a:rPr lang="zh-CN" altLang="en-US" b="1" dirty="0">
                <a:solidFill>
                  <a:schemeClr val="bg1"/>
                </a:solidFill>
              </a:rPr>
              <a:t>：处理订单请求的异步消息队列，削峰填谷，避免系统短时间内被大量请求压垮。</a:t>
            </a:r>
            <a:endParaRPr lang="en-US" altLang="zh-CN" b="1" dirty="0">
              <a:solidFill>
                <a:schemeClr val="bg1"/>
              </a:solidFill>
              <a:cs typeface="+mn-ea"/>
              <a:sym typeface="+mn-lt"/>
            </a:endParaRPr>
          </a:p>
        </p:txBody>
      </p:sp>
      <p:sp>
        <p:nvSpPr>
          <p:cNvPr id="17" name="椭圆 16"/>
          <p:cNvSpPr/>
          <p:nvPr/>
        </p:nvSpPr>
        <p:spPr>
          <a:xfrm>
            <a:off x="3955794" y="3372667"/>
            <a:ext cx="99805" cy="9980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2629550" y="2428079"/>
            <a:ext cx="99805" cy="9980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882989" y="5273439"/>
            <a:ext cx="99805" cy="9980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4944888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文本框 38"/>
          <p:cNvSpPr txBox="1"/>
          <p:nvPr/>
        </p:nvSpPr>
        <p:spPr>
          <a:xfrm>
            <a:off x="758738" y="1454998"/>
            <a:ext cx="4327869" cy="2526076"/>
          </a:xfrm>
          <a:prstGeom prst="rect">
            <a:avLst/>
          </a:prstGeom>
          <a:noFill/>
        </p:spPr>
        <p:txBody>
          <a:bodyPr wrap="square" rtlCol="0">
            <a:spAutoFit/>
          </a:bodyPr>
          <a:lstStyle/>
          <a:p>
            <a:pPr defTabSz="1216817">
              <a:lnSpc>
                <a:spcPct val="120000"/>
              </a:lnSpc>
              <a:spcBef>
                <a:spcPct val="20000"/>
              </a:spcBef>
            </a:pPr>
            <a:r>
              <a:rPr lang="zh-CN" altLang="en-US" sz="1400" b="1" dirty="0">
                <a:solidFill>
                  <a:schemeClr val="bg1"/>
                </a:solidFill>
                <a:cs typeface="+mn-ea"/>
                <a:sym typeface="+mn-lt"/>
              </a:rPr>
              <a:t>秒杀系统中，订单数据和商品信息的存储量巨大，可以使用水平分库分表方案将订单和商品表根据某种字段（如商品 </a:t>
            </a:r>
            <a:r>
              <a:rPr lang="en-US" altLang="zh-CN" sz="1400" b="1" dirty="0">
                <a:solidFill>
                  <a:schemeClr val="bg1"/>
                </a:solidFill>
                <a:cs typeface="+mn-ea"/>
                <a:sym typeface="+mn-lt"/>
              </a:rPr>
              <a:t>ID </a:t>
            </a:r>
            <a:r>
              <a:rPr lang="zh-CN" altLang="en-US" sz="1400" b="1" dirty="0">
                <a:solidFill>
                  <a:schemeClr val="bg1"/>
                </a:solidFill>
                <a:cs typeface="+mn-ea"/>
                <a:sym typeface="+mn-lt"/>
              </a:rPr>
              <a:t>或用户 </a:t>
            </a:r>
            <a:r>
              <a:rPr lang="en-US" altLang="zh-CN" sz="1400" b="1" dirty="0">
                <a:solidFill>
                  <a:schemeClr val="bg1"/>
                </a:solidFill>
                <a:cs typeface="+mn-ea"/>
                <a:sym typeface="+mn-lt"/>
              </a:rPr>
              <a:t>ID</a:t>
            </a:r>
            <a:r>
              <a:rPr lang="zh-CN" altLang="en-US" sz="1400" b="1" dirty="0">
                <a:solidFill>
                  <a:schemeClr val="bg1"/>
                </a:solidFill>
                <a:cs typeface="+mn-ea"/>
                <a:sym typeface="+mn-lt"/>
              </a:rPr>
              <a:t>）进行拆分。</a:t>
            </a:r>
          </a:p>
          <a:p>
            <a:pPr defTabSz="1216817">
              <a:lnSpc>
                <a:spcPct val="120000"/>
              </a:lnSpc>
              <a:spcBef>
                <a:spcPct val="20000"/>
              </a:spcBef>
            </a:pPr>
            <a:endParaRPr lang="zh-CN" altLang="en-US" sz="1400" b="1" dirty="0">
              <a:solidFill>
                <a:schemeClr val="bg1"/>
              </a:solidFill>
              <a:cs typeface="+mn-ea"/>
              <a:sym typeface="+mn-lt"/>
            </a:endParaRPr>
          </a:p>
          <a:p>
            <a:pPr defTabSz="1216817">
              <a:lnSpc>
                <a:spcPct val="120000"/>
              </a:lnSpc>
              <a:spcBef>
                <a:spcPct val="20000"/>
              </a:spcBef>
            </a:pPr>
            <a:r>
              <a:rPr lang="zh-CN" altLang="en-US" sz="1400" b="1" dirty="0">
                <a:solidFill>
                  <a:schemeClr val="bg1"/>
                </a:solidFill>
                <a:cs typeface="+mn-ea"/>
                <a:sym typeface="+mn-lt"/>
              </a:rPr>
              <a:t>订单表分库分表：按用户 </a:t>
            </a:r>
            <a:r>
              <a:rPr lang="en-US" altLang="zh-CN" sz="1400" b="1" dirty="0">
                <a:solidFill>
                  <a:schemeClr val="bg1"/>
                </a:solidFill>
                <a:cs typeface="+mn-ea"/>
                <a:sym typeface="+mn-lt"/>
              </a:rPr>
              <a:t>ID </a:t>
            </a:r>
            <a:r>
              <a:rPr lang="zh-CN" altLang="en-US" sz="1400" b="1" dirty="0">
                <a:solidFill>
                  <a:schemeClr val="bg1"/>
                </a:solidFill>
                <a:cs typeface="+mn-ea"/>
                <a:sym typeface="+mn-lt"/>
              </a:rPr>
              <a:t>或订单 </a:t>
            </a:r>
            <a:r>
              <a:rPr lang="en-US" altLang="zh-CN" sz="1400" b="1" dirty="0">
                <a:solidFill>
                  <a:schemeClr val="bg1"/>
                </a:solidFill>
                <a:cs typeface="+mn-ea"/>
                <a:sym typeface="+mn-lt"/>
              </a:rPr>
              <a:t>ID </a:t>
            </a:r>
            <a:r>
              <a:rPr lang="zh-CN" altLang="en-US" sz="1400" b="1" dirty="0">
                <a:solidFill>
                  <a:schemeClr val="bg1"/>
                </a:solidFill>
                <a:cs typeface="+mn-ea"/>
                <a:sym typeface="+mn-lt"/>
              </a:rPr>
              <a:t>进行水平拆分，将订单数据分布到多个数据库实例中。</a:t>
            </a:r>
          </a:p>
          <a:p>
            <a:pPr defTabSz="1216817">
              <a:lnSpc>
                <a:spcPct val="120000"/>
              </a:lnSpc>
              <a:spcBef>
                <a:spcPct val="20000"/>
              </a:spcBef>
            </a:pPr>
            <a:r>
              <a:rPr lang="zh-CN" altLang="en-US" sz="1400" b="1" dirty="0">
                <a:solidFill>
                  <a:schemeClr val="bg1"/>
                </a:solidFill>
                <a:cs typeface="+mn-ea"/>
                <a:sym typeface="+mn-lt"/>
              </a:rPr>
              <a:t>商品表分库分表：按商品 </a:t>
            </a:r>
            <a:r>
              <a:rPr lang="en-US" altLang="zh-CN" sz="1400" b="1" dirty="0">
                <a:solidFill>
                  <a:schemeClr val="bg1"/>
                </a:solidFill>
                <a:cs typeface="+mn-ea"/>
                <a:sym typeface="+mn-lt"/>
              </a:rPr>
              <a:t>ID </a:t>
            </a:r>
            <a:r>
              <a:rPr lang="zh-CN" altLang="en-US" sz="1400" b="1" dirty="0">
                <a:solidFill>
                  <a:schemeClr val="bg1"/>
                </a:solidFill>
                <a:cs typeface="+mn-ea"/>
                <a:sym typeface="+mn-lt"/>
              </a:rPr>
              <a:t>进行分表，将每个商品的库存信息存储到不同的表中，减少单表数据量，提升查询效率。</a:t>
            </a:r>
          </a:p>
        </p:txBody>
      </p:sp>
      <p:sp>
        <p:nvSpPr>
          <p:cNvPr id="74" name="文本框 73"/>
          <p:cNvSpPr txBox="1"/>
          <p:nvPr/>
        </p:nvSpPr>
        <p:spPr>
          <a:xfrm>
            <a:off x="3844145" y="317918"/>
            <a:ext cx="4480560" cy="461665"/>
          </a:xfrm>
          <a:prstGeom prst="rect">
            <a:avLst/>
          </a:prstGeom>
          <a:noFill/>
        </p:spPr>
        <p:txBody>
          <a:bodyPr wrap="square" rtlCol="0">
            <a:spAutoFit/>
          </a:bodyPr>
          <a:lstStyle/>
          <a:p>
            <a:pPr algn="ctr"/>
            <a:r>
              <a:rPr lang="en-US" altLang="zh-CN" sz="2400" b="1" dirty="0">
                <a:solidFill>
                  <a:schemeClr val="bg1"/>
                </a:solidFill>
                <a:latin typeface="+mj-ea"/>
                <a:ea typeface="+mj-ea"/>
              </a:rPr>
              <a:t>MySQL</a:t>
            </a:r>
            <a:r>
              <a:rPr lang="zh-CN" altLang="en-US" sz="2400" b="1" dirty="0">
                <a:solidFill>
                  <a:schemeClr val="bg1"/>
                </a:solidFill>
                <a:latin typeface="+mj-ea"/>
                <a:ea typeface="+mj-ea"/>
              </a:rPr>
              <a:t>分库分表</a:t>
            </a:r>
          </a:p>
        </p:txBody>
      </p:sp>
      <p:pic>
        <p:nvPicPr>
          <p:cNvPr id="4" name="图片 3">
            <a:extLst>
              <a:ext uri="{FF2B5EF4-FFF2-40B4-BE49-F238E27FC236}">
                <a16:creationId xmlns:a16="http://schemas.microsoft.com/office/drawing/2014/main" id="{E64BA10A-FC43-2EBE-E21B-0F126AA0B5F6}"/>
              </a:ext>
            </a:extLst>
          </p:cNvPr>
          <p:cNvPicPr>
            <a:picLocks noChangeAspect="1"/>
          </p:cNvPicPr>
          <p:nvPr/>
        </p:nvPicPr>
        <p:blipFill>
          <a:blip r:embed="rId3"/>
          <a:stretch>
            <a:fillRect/>
          </a:stretch>
        </p:blipFill>
        <p:spPr>
          <a:xfrm>
            <a:off x="1188880" y="4386691"/>
            <a:ext cx="3467584" cy="1876687"/>
          </a:xfrm>
          <a:prstGeom prst="rect">
            <a:avLst/>
          </a:prstGeom>
        </p:spPr>
      </p:pic>
      <p:pic>
        <p:nvPicPr>
          <p:cNvPr id="8" name="图片 7">
            <a:extLst>
              <a:ext uri="{FF2B5EF4-FFF2-40B4-BE49-F238E27FC236}">
                <a16:creationId xmlns:a16="http://schemas.microsoft.com/office/drawing/2014/main" id="{E2F48868-55A3-B80E-DB07-EF85B1CCCC3B}"/>
              </a:ext>
            </a:extLst>
          </p:cNvPr>
          <p:cNvPicPr>
            <a:picLocks noChangeAspect="1"/>
          </p:cNvPicPr>
          <p:nvPr/>
        </p:nvPicPr>
        <p:blipFill>
          <a:blip r:embed="rId4"/>
          <a:stretch>
            <a:fillRect/>
          </a:stretch>
        </p:blipFill>
        <p:spPr>
          <a:xfrm>
            <a:off x="6357354" y="1756676"/>
            <a:ext cx="5630061" cy="4448796"/>
          </a:xfrm>
          <a:prstGeom prst="rect">
            <a:avLst/>
          </a:prstGeom>
        </p:spPr>
      </p:pic>
    </p:spTree>
    <p:extLst>
      <p:ext uri="{BB962C8B-B14F-4D97-AF65-F5344CB8AC3E}">
        <p14:creationId xmlns:p14="http://schemas.microsoft.com/office/powerpoint/2010/main" val="81518693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文本框 38"/>
          <p:cNvSpPr txBox="1"/>
          <p:nvPr/>
        </p:nvSpPr>
        <p:spPr>
          <a:xfrm>
            <a:off x="691502" y="2065989"/>
            <a:ext cx="4327869" cy="2827697"/>
          </a:xfrm>
          <a:prstGeom prst="rect">
            <a:avLst/>
          </a:prstGeom>
          <a:noFill/>
        </p:spPr>
        <p:txBody>
          <a:bodyPr wrap="square" rtlCol="0">
            <a:spAutoFit/>
          </a:bodyPr>
          <a:lstStyle/>
          <a:p>
            <a:pPr defTabSz="1216817">
              <a:lnSpc>
                <a:spcPct val="120000"/>
              </a:lnSpc>
              <a:spcBef>
                <a:spcPct val="20000"/>
              </a:spcBef>
            </a:pPr>
            <a:r>
              <a:rPr lang="en-US" altLang="zh-CN" sz="1400" b="1" dirty="0">
                <a:solidFill>
                  <a:schemeClr val="bg1"/>
                </a:solidFill>
                <a:cs typeface="+mn-ea"/>
                <a:sym typeface="+mn-lt"/>
              </a:rPr>
              <a:t>Redis </a:t>
            </a:r>
            <a:r>
              <a:rPr lang="zh-CN" altLang="en-US" sz="1400" b="1" dirty="0">
                <a:solidFill>
                  <a:schemeClr val="bg1"/>
                </a:solidFill>
                <a:cs typeface="+mn-ea"/>
                <a:sym typeface="+mn-lt"/>
              </a:rPr>
              <a:t>集群模式通过分布式存储将数据分配到多个 </a:t>
            </a:r>
            <a:r>
              <a:rPr lang="en-US" altLang="zh-CN" sz="1400" b="1" dirty="0">
                <a:solidFill>
                  <a:schemeClr val="bg1"/>
                </a:solidFill>
                <a:cs typeface="+mn-ea"/>
                <a:sym typeface="+mn-lt"/>
              </a:rPr>
              <a:t>Redis </a:t>
            </a:r>
            <a:r>
              <a:rPr lang="zh-CN" altLang="en-US" sz="1400" b="1" dirty="0">
                <a:solidFill>
                  <a:schemeClr val="bg1"/>
                </a:solidFill>
                <a:cs typeface="+mn-ea"/>
                <a:sym typeface="+mn-lt"/>
              </a:rPr>
              <a:t>节点上，支持数据的自动分片和高可用性。</a:t>
            </a:r>
          </a:p>
          <a:p>
            <a:pPr defTabSz="1216817">
              <a:lnSpc>
                <a:spcPct val="120000"/>
              </a:lnSpc>
              <a:spcBef>
                <a:spcPct val="20000"/>
              </a:spcBef>
            </a:pPr>
            <a:endParaRPr lang="en-US" altLang="zh-CN" sz="1400" b="1" dirty="0">
              <a:solidFill>
                <a:schemeClr val="bg1"/>
              </a:solidFill>
              <a:cs typeface="+mn-ea"/>
              <a:sym typeface="+mn-lt"/>
            </a:endParaRPr>
          </a:p>
          <a:p>
            <a:pPr defTabSz="1216817">
              <a:lnSpc>
                <a:spcPct val="120000"/>
              </a:lnSpc>
              <a:spcBef>
                <a:spcPct val="20000"/>
              </a:spcBef>
            </a:pPr>
            <a:r>
              <a:rPr lang="zh-CN" altLang="en-US" sz="1400" b="1" dirty="0">
                <a:solidFill>
                  <a:schemeClr val="bg1"/>
                </a:solidFill>
                <a:cs typeface="+mn-ea"/>
                <a:sym typeface="+mn-lt"/>
              </a:rPr>
              <a:t>商品库存缓存：提前将商品库存加载到 </a:t>
            </a:r>
            <a:r>
              <a:rPr lang="en-US" altLang="zh-CN" sz="1400" b="1" dirty="0">
                <a:solidFill>
                  <a:schemeClr val="bg1"/>
                </a:solidFill>
                <a:cs typeface="+mn-ea"/>
                <a:sym typeface="+mn-lt"/>
              </a:rPr>
              <a:t>Redis </a:t>
            </a:r>
            <a:r>
              <a:rPr lang="zh-CN" altLang="en-US" sz="1400" b="1" dirty="0">
                <a:solidFill>
                  <a:schemeClr val="bg1"/>
                </a:solidFill>
                <a:cs typeface="+mn-ea"/>
                <a:sym typeface="+mn-lt"/>
              </a:rPr>
              <a:t>集群中，在秒杀期间实时更新。</a:t>
            </a:r>
          </a:p>
          <a:p>
            <a:pPr defTabSz="1216817">
              <a:lnSpc>
                <a:spcPct val="120000"/>
              </a:lnSpc>
              <a:spcBef>
                <a:spcPct val="20000"/>
              </a:spcBef>
            </a:pPr>
            <a:r>
              <a:rPr lang="zh-CN" altLang="en-US" sz="1400" b="1" dirty="0">
                <a:solidFill>
                  <a:schemeClr val="bg1"/>
                </a:solidFill>
                <a:cs typeface="+mn-ea"/>
                <a:sym typeface="+mn-lt"/>
              </a:rPr>
              <a:t>用户请求状态：用 </a:t>
            </a:r>
            <a:r>
              <a:rPr lang="en-US" altLang="zh-CN" sz="1400" b="1" dirty="0">
                <a:solidFill>
                  <a:schemeClr val="bg1"/>
                </a:solidFill>
                <a:cs typeface="+mn-ea"/>
                <a:sym typeface="+mn-lt"/>
              </a:rPr>
              <a:t>Redis </a:t>
            </a:r>
            <a:r>
              <a:rPr lang="zh-CN" altLang="en-US" sz="1400" b="1" dirty="0">
                <a:solidFill>
                  <a:schemeClr val="bg1"/>
                </a:solidFill>
                <a:cs typeface="+mn-ea"/>
                <a:sym typeface="+mn-lt"/>
              </a:rPr>
              <a:t>集群存储用户秒杀请求状态，防止重复下单。</a:t>
            </a:r>
          </a:p>
          <a:p>
            <a:pPr defTabSz="1216817">
              <a:lnSpc>
                <a:spcPct val="120000"/>
              </a:lnSpc>
              <a:spcBef>
                <a:spcPct val="20000"/>
              </a:spcBef>
            </a:pPr>
            <a:r>
              <a:rPr lang="en-US" altLang="zh-CN" sz="1400" b="1" dirty="0">
                <a:solidFill>
                  <a:schemeClr val="bg1"/>
                </a:solidFill>
                <a:cs typeface="+mn-ea"/>
                <a:sym typeface="+mn-lt"/>
              </a:rPr>
              <a:t>Redis </a:t>
            </a:r>
            <a:r>
              <a:rPr lang="zh-CN" altLang="en-US" sz="1400" b="1" dirty="0">
                <a:solidFill>
                  <a:schemeClr val="bg1"/>
                </a:solidFill>
                <a:cs typeface="+mn-ea"/>
                <a:sym typeface="+mn-lt"/>
              </a:rPr>
              <a:t>集群部署： </a:t>
            </a:r>
            <a:r>
              <a:rPr lang="en-US" altLang="zh-CN" sz="1400" b="1" dirty="0">
                <a:solidFill>
                  <a:schemeClr val="bg1"/>
                </a:solidFill>
                <a:cs typeface="+mn-ea"/>
                <a:sym typeface="+mn-lt"/>
              </a:rPr>
              <a:t>Redis </a:t>
            </a:r>
            <a:r>
              <a:rPr lang="zh-CN" altLang="en-US" sz="1400" b="1" dirty="0">
                <a:solidFill>
                  <a:schemeClr val="bg1"/>
                </a:solidFill>
                <a:cs typeface="+mn-ea"/>
                <a:sym typeface="+mn-lt"/>
              </a:rPr>
              <a:t>集群分成多个节点，每个节点处理部分数据的槽位，并通过哈希算法将键值映射到相应的槽位中。</a:t>
            </a:r>
          </a:p>
        </p:txBody>
      </p:sp>
      <p:sp>
        <p:nvSpPr>
          <p:cNvPr id="74" name="文本框 73"/>
          <p:cNvSpPr txBox="1"/>
          <p:nvPr/>
        </p:nvSpPr>
        <p:spPr>
          <a:xfrm>
            <a:off x="3844145" y="317918"/>
            <a:ext cx="4480560" cy="461665"/>
          </a:xfrm>
          <a:prstGeom prst="rect">
            <a:avLst/>
          </a:prstGeom>
          <a:noFill/>
        </p:spPr>
        <p:txBody>
          <a:bodyPr wrap="square" rtlCol="0">
            <a:spAutoFit/>
          </a:bodyPr>
          <a:lstStyle/>
          <a:p>
            <a:pPr algn="ctr"/>
            <a:r>
              <a:rPr lang="en-US" altLang="zh-CN" sz="2400" b="1" dirty="0">
                <a:solidFill>
                  <a:schemeClr val="bg1"/>
                </a:solidFill>
                <a:latin typeface="+mj-ea"/>
                <a:ea typeface="+mj-ea"/>
              </a:rPr>
              <a:t>Redis </a:t>
            </a:r>
            <a:r>
              <a:rPr lang="zh-CN" altLang="en-US" sz="2400" b="1" dirty="0">
                <a:solidFill>
                  <a:schemeClr val="bg1"/>
                </a:solidFill>
                <a:latin typeface="+mj-ea"/>
                <a:ea typeface="+mj-ea"/>
              </a:rPr>
              <a:t>集群模式</a:t>
            </a:r>
          </a:p>
        </p:txBody>
      </p:sp>
      <p:pic>
        <p:nvPicPr>
          <p:cNvPr id="3" name="图片 2">
            <a:extLst>
              <a:ext uri="{FF2B5EF4-FFF2-40B4-BE49-F238E27FC236}">
                <a16:creationId xmlns:a16="http://schemas.microsoft.com/office/drawing/2014/main" id="{08272553-307E-B535-6E21-165A3A9921A2}"/>
              </a:ext>
            </a:extLst>
          </p:cNvPr>
          <p:cNvPicPr>
            <a:picLocks noChangeAspect="1"/>
          </p:cNvPicPr>
          <p:nvPr/>
        </p:nvPicPr>
        <p:blipFill>
          <a:blip r:embed="rId3"/>
          <a:stretch>
            <a:fillRect/>
          </a:stretch>
        </p:blipFill>
        <p:spPr>
          <a:xfrm>
            <a:off x="5305960" y="1067608"/>
            <a:ext cx="6518450" cy="5348978"/>
          </a:xfrm>
          <a:prstGeom prst="rect">
            <a:avLst/>
          </a:prstGeom>
        </p:spPr>
      </p:pic>
    </p:spTree>
    <p:extLst>
      <p:ext uri="{BB962C8B-B14F-4D97-AF65-F5344CB8AC3E}">
        <p14:creationId xmlns:p14="http://schemas.microsoft.com/office/powerpoint/2010/main" val="408734789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文本框 38"/>
          <p:cNvSpPr txBox="1"/>
          <p:nvPr/>
        </p:nvSpPr>
        <p:spPr>
          <a:xfrm>
            <a:off x="288090" y="1384814"/>
            <a:ext cx="4327869" cy="2352247"/>
          </a:xfrm>
          <a:prstGeom prst="rect">
            <a:avLst/>
          </a:prstGeom>
          <a:noFill/>
        </p:spPr>
        <p:txBody>
          <a:bodyPr wrap="square" rtlCol="0">
            <a:spAutoFit/>
          </a:bodyPr>
          <a:lstStyle/>
          <a:p>
            <a:pPr defTabSz="1216817">
              <a:lnSpc>
                <a:spcPct val="120000"/>
              </a:lnSpc>
              <a:spcBef>
                <a:spcPct val="20000"/>
              </a:spcBef>
            </a:pPr>
            <a:r>
              <a:rPr lang="zh-CN" altLang="en-US" sz="1400" b="1" dirty="0">
                <a:solidFill>
                  <a:schemeClr val="bg1"/>
                </a:solidFill>
                <a:cs typeface="+mn-ea"/>
                <a:sym typeface="+mn-lt"/>
              </a:rPr>
              <a:t>为了防止库存超卖，采用</a:t>
            </a:r>
            <a:r>
              <a:rPr lang="en-US" altLang="zh-CN" sz="1400" b="1" dirty="0">
                <a:solidFill>
                  <a:schemeClr val="bg1"/>
                </a:solidFill>
                <a:cs typeface="+mn-ea"/>
                <a:sym typeface="+mn-lt"/>
              </a:rPr>
              <a:t>Redis </a:t>
            </a:r>
            <a:r>
              <a:rPr lang="zh-CN" altLang="en-US" sz="1400" b="1" dirty="0">
                <a:solidFill>
                  <a:schemeClr val="bg1"/>
                </a:solidFill>
                <a:cs typeface="+mn-ea"/>
                <a:sym typeface="+mn-lt"/>
              </a:rPr>
              <a:t>集群中的分布式锁。</a:t>
            </a:r>
          </a:p>
          <a:p>
            <a:pPr defTabSz="1216817">
              <a:lnSpc>
                <a:spcPct val="120000"/>
              </a:lnSpc>
              <a:spcBef>
                <a:spcPct val="20000"/>
              </a:spcBef>
            </a:pPr>
            <a:r>
              <a:rPr lang="zh-CN" altLang="en-US" sz="1400" b="1" dirty="0">
                <a:solidFill>
                  <a:schemeClr val="bg1"/>
                </a:solidFill>
                <a:cs typeface="+mn-ea"/>
                <a:sym typeface="+mn-lt"/>
              </a:rPr>
              <a:t>分布式锁：在库存扣减时使用 </a:t>
            </a:r>
            <a:r>
              <a:rPr lang="en-US" altLang="zh-CN" sz="1400" b="1" dirty="0">
                <a:solidFill>
                  <a:schemeClr val="bg1"/>
                </a:solidFill>
                <a:cs typeface="+mn-ea"/>
                <a:sym typeface="+mn-lt"/>
              </a:rPr>
              <a:t>Redis </a:t>
            </a:r>
            <a:r>
              <a:rPr lang="zh-CN" altLang="en-US" sz="1400" b="1" dirty="0">
                <a:solidFill>
                  <a:schemeClr val="bg1"/>
                </a:solidFill>
                <a:cs typeface="+mn-ea"/>
                <a:sym typeface="+mn-lt"/>
              </a:rPr>
              <a:t>分布式锁，确保同一时刻只有一个请求能扣减库存，防止超卖问题。</a:t>
            </a:r>
            <a:endParaRPr lang="en-US" altLang="zh-CN" sz="1400" b="1" dirty="0">
              <a:solidFill>
                <a:schemeClr val="bg1"/>
              </a:solidFill>
              <a:cs typeface="+mn-ea"/>
              <a:sym typeface="+mn-lt"/>
            </a:endParaRPr>
          </a:p>
          <a:p>
            <a:pPr defTabSz="1216817">
              <a:lnSpc>
                <a:spcPct val="120000"/>
              </a:lnSpc>
              <a:spcBef>
                <a:spcPct val="20000"/>
              </a:spcBef>
            </a:pPr>
            <a:endParaRPr lang="zh-CN" altLang="en-US" sz="1400" b="1" dirty="0">
              <a:solidFill>
                <a:schemeClr val="bg1"/>
              </a:solidFill>
              <a:cs typeface="+mn-ea"/>
              <a:sym typeface="+mn-lt"/>
            </a:endParaRPr>
          </a:p>
          <a:p>
            <a:pPr defTabSz="1216817">
              <a:lnSpc>
                <a:spcPct val="120000"/>
              </a:lnSpc>
              <a:spcBef>
                <a:spcPct val="20000"/>
              </a:spcBef>
            </a:pPr>
            <a:r>
              <a:rPr lang="zh-CN" altLang="en-US" sz="1400" b="1" dirty="0">
                <a:solidFill>
                  <a:schemeClr val="bg1"/>
                </a:solidFill>
                <a:cs typeface="+mn-ea"/>
                <a:sym typeface="+mn-lt"/>
              </a:rPr>
              <a:t>使用 </a:t>
            </a:r>
            <a:r>
              <a:rPr lang="en-US" altLang="zh-CN" sz="1400" b="1" dirty="0">
                <a:solidFill>
                  <a:schemeClr val="bg1"/>
                </a:solidFill>
                <a:cs typeface="+mn-ea"/>
                <a:sym typeface="+mn-lt"/>
              </a:rPr>
              <a:t>Redis </a:t>
            </a:r>
            <a:r>
              <a:rPr lang="zh-CN" altLang="en-US" sz="1400" b="1" dirty="0">
                <a:solidFill>
                  <a:schemeClr val="bg1"/>
                </a:solidFill>
                <a:cs typeface="+mn-ea"/>
                <a:sym typeface="+mn-lt"/>
              </a:rPr>
              <a:t>实现请求限流，防止单个用户在短时间内发起大量请求。</a:t>
            </a:r>
            <a:endParaRPr lang="en-US" altLang="zh-CN" sz="1400" b="1" dirty="0">
              <a:solidFill>
                <a:schemeClr val="bg1"/>
              </a:solidFill>
              <a:cs typeface="+mn-ea"/>
              <a:sym typeface="+mn-lt"/>
            </a:endParaRPr>
          </a:p>
          <a:p>
            <a:pPr defTabSz="1216817">
              <a:lnSpc>
                <a:spcPct val="120000"/>
              </a:lnSpc>
              <a:spcBef>
                <a:spcPct val="20000"/>
              </a:spcBef>
            </a:pPr>
            <a:endParaRPr lang="en-US" altLang="zh-CN" sz="1400" b="1" dirty="0">
              <a:solidFill>
                <a:schemeClr val="bg1"/>
              </a:solidFill>
              <a:cs typeface="+mn-ea"/>
              <a:sym typeface="+mn-lt"/>
            </a:endParaRPr>
          </a:p>
          <a:p>
            <a:pPr defTabSz="1216817">
              <a:lnSpc>
                <a:spcPct val="120000"/>
              </a:lnSpc>
              <a:spcBef>
                <a:spcPct val="20000"/>
              </a:spcBef>
            </a:pPr>
            <a:endParaRPr lang="zh-CN" altLang="en-US" sz="1400" b="1" dirty="0">
              <a:solidFill>
                <a:schemeClr val="bg1"/>
              </a:solidFill>
              <a:cs typeface="+mn-ea"/>
              <a:sym typeface="+mn-lt"/>
            </a:endParaRPr>
          </a:p>
        </p:txBody>
      </p:sp>
      <p:sp>
        <p:nvSpPr>
          <p:cNvPr id="74" name="文本框 73"/>
          <p:cNvSpPr txBox="1"/>
          <p:nvPr/>
        </p:nvSpPr>
        <p:spPr>
          <a:xfrm>
            <a:off x="3844145" y="317918"/>
            <a:ext cx="4480560" cy="461665"/>
          </a:xfrm>
          <a:prstGeom prst="rect">
            <a:avLst/>
          </a:prstGeom>
          <a:noFill/>
        </p:spPr>
        <p:txBody>
          <a:bodyPr wrap="square" rtlCol="0">
            <a:spAutoFit/>
          </a:bodyPr>
          <a:lstStyle/>
          <a:p>
            <a:pPr algn="ctr"/>
            <a:r>
              <a:rPr lang="en-US" altLang="zh-CN" sz="2400" b="1" dirty="0">
                <a:solidFill>
                  <a:schemeClr val="bg1"/>
                </a:solidFill>
                <a:latin typeface="+mj-ea"/>
                <a:ea typeface="+mj-ea"/>
              </a:rPr>
              <a:t>Redis </a:t>
            </a:r>
            <a:r>
              <a:rPr lang="zh-CN" altLang="en-US" sz="2400" b="1" dirty="0">
                <a:solidFill>
                  <a:schemeClr val="bg1"/>
                </a:solidFill>
                <a:latin typeface="+mj-ea"/>
                <a:ea typeface="+mj-ea"/>
              </a:rPr>
              <a:t>集群模式</a:t>
            </a:r>
          </a:p>
        </p:txBody>
      </p:sp>
      <p:pic>
        <p:nvPicPr>
          <p:cNvPr id="4" name="图片 3">
            <a:extLst>
              <a:ext uri="{FF2B5EF4-FFF2-40B4-BE49-F238E27FC236}">
                <a16:creationId xmlns:a16="http://schemas.microsoft.com/office/drawing/2014/main" id="{2E463972-80E0-7D1F-8B79-38E4C51796CD}"/>
              </a:ext>
            </a:extLst>
          </p:cNvPr>
          <p:cNvPicPr>
            <a:picLocks noChangeAspect="1"/>
          </p:cNvPicPr>
          <p:nvPr/>
        </p:nvPicPr>
        <p:blipFill>
          <a:blip r:embed="rId3"/>
          <a:stretch>
            <a:fillRect/>
          </a:stretch>
        </p:blipFill>
        <p:spPr>
          <a:xfrm>
            <a:off x="88466" y="3925018"/>
            <a:ext cx="4943382" cy="1631494"/>
          </a:xfrm>
          <a:prstGeom prst="rect">
            <a:avLst/>
          </a:prstGeom>
        </p:spPr>
      </p:pic>
      <p:pic>
        <p:nvPicPr>
          <p:cNvPr id="6" name="图片 5">
            <a:extLst>
              <a:ext uri="{FF2B5EF4-FFF2-40B4-BE49-F238E27FC236}">
                <a16:creationId xmlns:a16="http://schemas.microsoft.com/office/drawing/2014/main" id="{BED66CCA-4445-06BF-8DBE-77CF8DD59C02}"/>
              </a:ext>
            </a:extLst>
          </p:cNvPr>
          <p:cNvPicPr>
            <a:picLocks noChangeAspect="1"/>
          </p:cNvPicPr>
          <p:nvPr/>
        </p:nvPicPr>
        <p:blipFill>
          <a:blip r:embed="rId4"/>
          <a:stretch>
            <a:fillRect/>
          </a:stretch>
        </p:blipFill>
        <p:spPr>
          <a:xfrm>
            <a:off x="5110482" y="1263790"/>
            <a:ext cx="7081518" cy="5322456"/>
          </a:xfrm>
          <a:prstGeom prst="rect">
            <a:avLst/>
          </a:prstGeom>
        </p:spPr>
      </p:pic>
    </p:spTree>
    <p:extLst>
      <p:ext uri="{BB962C8B-B14F-4D97-AF65-F5344CB8AC3E}">
        <p14:creationId xmlns:p14="http://schemas.microsoft.com/office/powerpoint/2010/main" val="141846552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文本框 38"/>
          <p:cNvSpPr txBox="1"/>
          <p:nvPr/>
        </p:nvSpPr>
        <p:spPr>
          <a:xfrm>
            <a:off x="503244" y="678623"/>
            <a:ext cx="4327869" cy="2439899"/>
          </a:xfrm>
          <a:prstGeom prst="rect">
            <a:avLst/>
          </a:prstGeom>
          <a:noFill/>
        </p:spPr>
        <p:txBody>
          <a:bodyPr wrap="square" rtlCol="0">
            <a:spAutoFit/>
          </a:bodyPr>
          <a:lstStyle/>
          <a:p>
            <a:pPr defTabSz="1216817">
              <a:lnSpc>
                <a:spcPct val="120000"/>
              </a:lnSpc>
              <a:spcBef>
                <a:spcPct val="20000"/>
              </a:spcBef>
            </a:pPr>
            <a:r>
              <a:rPr lang="zh-CN" altLang="en-US" sz="1400" b="1" dirty="0">
                <a:solidFill>
                  <a:schemeClr val="bg1"/>
                </a:solidFill>
                <a:cs typeface="+mn-ea"/>
                <a:sym typeface="+mn-lt"/>
              </a:rPr>
              <a:t>为了防止高并发请求直接打到 </a:t>
            </a:r>
            <a:r>
              <a:rPr lang="en-US" altLang="zh-CN" sz="1400" b="1" dirty="0">
                <a:solidFill>
                  <a:schemeClr val="bg1"/>
                </a:solidFill>
                <a:cs typeface="+mn-ea"/>
                <a:sym typeface="+mn-lt"/>
              </a:rPr>
              <a:t>MySQL </a:t>
            </a:r>
            <a:r>
              <a:rPr lang="zh-CN" altLang="en-US" sz="1400" b="1" dirty="0">
                <a:solidFill>
                  <a:schemeClr val="bg1"/>
                </a:solidFill>
                <a:cs typeface="+mn-ea"/>
                <a:sym typeface="+mn-lt"/>
              </a:rPr>
              <a:t>和 </a:t>
            </a:r>
            <a:r>
              <a:rPr lang="en-US" altLang="zh-CN" sz="1400" b="1" dirty="0">
                <a:solidFill>
                  <a:schemeClr val="bg1"/>
                </a:solidFill>
                <a:cs typeface="+mn-ea"/>
                <a:sym typeface="+mn-lt"/>
              </a:rPr>
              <a:t>Redis</a:t>
            </a:r>
            <a:r>
              <a:rPr lang="zh-CN" altLang="en-US" sz="1400" b="1" dirty="0">
                <a:solidFill>
                  <a:schemeClr val="bg1"/>
                </a:solidFill>
                <a:cs typeface="+mn-ea"/>
                <a:sym typeface="+mn-lt"/>
              </a:rPr>
              <a:t>，通过 </a:t>
            </a:r>
            <a:r>
              <a:rPr lang="en-US" altLang="zh-CN" sz="1400" b="1" dirty="0">
                <a:solidFill>
                  <a:schemeClr val="bg1"/>
                </a:solidFill>
                <a:cs typeface="+mn-ea"/>
                <a:sym typeface="+mn-lt"/>
              </a:rPr>
              <a:t>RabbitMQ </a:t>
            </a:r>
            <a:r>
              <a:rPr lang="zh-CN" altLang="en-US" sz="1400" b="1" dirty="0">
                <a:solidFill>
                  <a:schemeClr val="bg1"/>
                </a:solidFill>
                <a:cs typeface="+mn-ea"/>
                <a:sym typeface="+mn-lt"/>
              </a:rPr>
              <a:t>将用户的下单请求放入队列中进行异步处理。当用户发起秒杀请求时，</a:t>
            </a:r>
            <a:r>
              <a:rPr lang="en-US" altLang="zh-CN" sz="1400" b="1" dirty="0">
                <a:solidFill>
                  <a:schemeClr val="bg1"/>
                </a:solidFill>
                <a:cs typeface="+mn-ea"/>
                <a:sym typeface="+mn-lt"/>
              </a:rPr>
              <a:t>Spring Boot </a:t>
            </a:r>
            <a:r>
              <a:rPr lang="zh-CN" altLang="en-US" sz="1400" b="1" dirty="0">
                <a:solidFill>
                  <a:schemeClr val="bg1"/>
                </a:solidFill>
                <a:cs typeface="+mn-ea"/>
                <a:sym typeface="+mn-lt"/>
              </a:rPr>
              <a:t>将请求发送到 </a:t>
            </a:r>
            <a:r>
              <a:rPr lang="en-US" altLang="zh-CN" sz="1400" b="1" dirty="0">
                <a:solidFill>
                  <a:schemeClr val="bg1"/>
                </a:solidFill>
                <a:cs typeface="+mn-ea"/>
                <a:sym typeface="+mn-lt"/>
              </a:rPr>
              <a:t>RabbitMQ</a:t>
            </a:r>
            <a:r>
              <a:rPr lang="zh-CN" altLang="en-US" sz="1400" b="1" dirty="0">
                <a:solidFill>
                  <a:schemeClr val="bg1"/>
                </a:solidFill>
                <a:cs typeface="+mn-ea"/>
                <a:sym typeface="+mn-lt"/>
              </a:rPr>
              <a:t>，消费者从队列中异步处理订单生成和库存扣减。</a:t>
            </a:r>
          </a:p>
          <a:p>
            <a:pPr defTabSz="1216817">
              <a:lnSpc>
                <a:spcPct val="120000"/>
              </a:lnSpc>
              <a:spcBef>
                <a:spcPct val="20000"/>
              </a:spcBef>
            </a:pPr>
            <a:r>
              <a:rPr lang="en-US" altLang="zh-CN" sz="1400" b="1" dirty="0">
                <a:solidFill>
                  <a:schemeClr val="bg1"/>
                </a:solidFill>
                <a:cs typeface="+mn-ea"/>
                <a:sym typeface="+mn-lt"/>
              </a:rPr>
              <a:t>Redis </a:t>
            </a:r>
            <a:r>
              <a:rPr lang="zh-CN" altLang="en-US" sz="1400" b="1" dirty="0">
                <a:solidFill>
                  <a:schemeClr val="bg1"/>
                </a:solidFill>
                <a:cs typeface="+mn-ea"/>
                <a:sym typeface="+mn-lt"/>
              </a:rPr>
              <a:t>先扣减库存，将秒杀请求发送到 </a:t>
            </a:r>
            <a:r>
              <a:rPr lang="en-US" altLang="zh-CN" sz="1400" b="1" dirty="0">
                <a:solidFill>
                  <a:schemeClr val="bg1"/>
                </a:solidFill>
                <a:cs typeface="+mn-ea"/>
                <a:sym typeface="+mn-lt"/>
              </a:rPr>
              <a:t>RabbitMQ </a:t>
            </a:r>
            <a:r>
              <a:rPr lang="zh-CN" altLang="en-US" sz="1400" b="1" dirty="0">
                <a:solidFill>
                  <a:schemeClr val="bg1"/>
                </a:solidFill>
                <a:cs typeface="+mn-ea"/>
                <a:sym typeface="+mn-lt"/>
              </a:rPr>
              <a:t>队列中，异步处理订单生成。消费者从 </a:t>
            </a:r>
            <a:r>
              <a:rPr lang="en-US" altLang="zh-CN" sz="1400" b="1" dirty="0">
                <a:solidFill>
                  <a:schemeClr val="bg1"/>
                </a:solidFill>
                <a:cs typeface="+mn-ea"/>
                <a:sym typeface="+mn-lt"/>
              </a:rPr>
              <a:t>RabbitMQ </a:t>
            </a:r>
            <a:r>
              <a:rPr lang="zh-CN" altLang="en-US" sz="1400" b="1" dirty="0">
                <a:solidFill>
                  <a:schemeClr val="bg1"/>
                </a:solidFill>
                <a:cs typeface="+mn-ea"/>
                <a:sym typeface="+mn-lt"/>
              </a:rPr>
              <a:t>队列中获取消息，检查库存和订单状态，更新 </a:t>
            </a:r>
            <a:r>
              <a:rPr lang="en-US" altLang="zh-CN" sz="1400" b="1" dirty="0">
                <a:solidFill>
                  <a:schemeClr val="bg1"/>
                </a:solidFill>
                <a:cs typeface="+mn-ea"/>
                <a:sym typeface="+mn-lt"/>
              </a:rPr>
              <a:t>MySQL </a:t>
            </a:r>
            <a:r>
              <a:rPr lang="zh-CN" altLang="en-US" sz="1400" b="1" dirty="0">
                <a:solidFill>
                  <a:schemeClr val="bg1"/>
                </a:solidFill>
                <a:cs typeface="+mn-ea"/>
                <a:sym typeface="+mn-lt"/>
              </a:rPr>
              <a:t>数据库。</a:t>
            </a:r>
          </a:p>
        </p:txBody>
      </p:sp>
      <p:sp>
        <p:nvSpPr>
          <p:cNvPr id="74" name="文本框 73"/>
          <p:cNvSpPr txBox="1"/>
          <p:nvPr/>
        </p:nvSpPr>
        <p:spPr>
          <a:xfrm>
            <a:off x="3682781" y="154764"/>
            <a:ext cx="4480560" cy="461665"/>
          </a:xfrm>
          <a:prstGeom prst="rect">
            <a:avLst/>
          </a:prstGeom>
          <a:noFill/>
        </p:spPr>
        <p:txBody>
          <a:bodyPr wrap="square" rtlCol="0">
            <a:spAutoFit/>
          </a:bodyPr>
          <a:lstStyle/>
          <a:p>
            <a:pPr algn="ctr"/>
            <a:r>
              <a:rPr lang="en-US" altLang="zh-CN" sz="2400" b="1" dirty="0">
                <a:solidFill>
                  <a:schemeClr val="bg1"/>
                </a:solidFill>
                <a:latin typeface="+mj-ea"/>
                <a:ea typeface="+mj-ea"/>
              </a:rPr>
              <a:t>Redis </a:t>
            </a:r>
            <a:r>
              <a:rPr lang="zh-CN" altLang="en-US" sz="2400" b="1" dirty="0">
                <a:solidFill>
                  <a:schemeClr val="bg1"/>
                </a:solidFill>
                <a:latin typeface="+mj-ea"/>
                <a:ea typeface="+mj-ea"/>
              </a:rPr>
              <a:t>集群模式</a:t>
            </a:r>
          </a:p>
        </p:txBody>
      </p:sp>
      <p:pic>
        <p:nvPicPr>
          <p:cNvPr id="6" name="图片 5">
            <a:extLst>
              <a:ext uri="{FF2B5EF4-FFF2-40B4-BE49-F238E27FC236}">
                <a16:creationId xmlns:a16="http://schemas.microsoft.com/office/drawing/2014/main" id="{A94D9754-53B2-6660-5862-0F7514109C47}"/>
              </a:ext>
            </a:extLst>
          </p:cNvPr>
          <p:cNvPicPr>
            <a:picLocks noChangeAspect="1"/>
          </p:cNvPicPr>
          <p:nvPr/>
        </p:nvPicPr>
        <p:blipFill>
          <a:blip r:embed="rId3"/>
          <a:stretch>
            <a:fillRect/>
          </a:stretch>
        </p:blipFill>
        <p:spPr>
          <a:xfrm>
            <a:off x="5785742" y="903446"/>
            <a:ext cx="6279266" cy="5636636"/>
          </a:xfrm>
          <a:prstGeom prst="rect">
            <a:avLst/>
          </a:prstGeom>
        </p:spPr>
      </p:pic>
      <p:pic>
        <p:nvPicPr>
          <p:cNvPr id="8" name="图片 7">
            <a:extLst>
              <a:ext uri="{FF2B5EF4-FFF2-40B4-BE49-F238E27FC236}">
                <a16:creationId xmlns:a16="http://schemas.microsoft.com/office/drawing/2014/main" id="{BD53AE8C-DF9C-1E8E-98D8-48DBEAE82491}"/>
              </a:ext>
            </a:extLst>
          </p:cNvPr>
          <p:cNvPicPr>
            <a:picLocks noChangeAspect="1"/>
          </p:cNvPicPr>
          <p:nvPr/>
        </p:nvPicPr>
        <p:blipFill>
          <a:blip r:embed="rId4"/>
          <a:stretch>
            <a:fillRect/>
          </a:stretch>
        </p:blipFill>
        <p:spPr>
          <a:xfrm>
            <a:off x="551905" y="3271439"/>
            <a:ext cx="4279208" cy="3156256"/>
          </a:xfrm>
          <a:prstGeom prst="rect">
            <a:avLst/>
          </a:prstGeom>
        </p:spPr>
      </p:pic>
    </p:spTree>
    <p:extLst>
      <p:ext uri="{BB962C8B-B14F-4D97-AF65-F5344CB8AC3E}">
        <p14:creationId xmlns:p14="http://schemas.microsoft.com/office/powerpoint/2010/main" val="34320703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285671" y="918988"/>
            <a:ext cx="7482848" cy="4590858"/>
            <a:chOff x="3689573" y="989327"/>
            <a:chExt cx="4812854" cy="2952770"/>
          </a:xfrm>
        </p:grpSpPr>
        <p:sp>
          <p:nvSpPr>
            <p:cNvPr id="3" name="等腰三角形 2"/>
            <p:cNvSpPr/>
            <p:nvPr/>
          </p:nvSpPr>
          <p:spPr>
            <a:xfrm flipV="1">
              <a:off x="4803235" y="1622349"/>
              <a:ext cx="2592733" cy="2235115"/>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等腰三角形 3"/>
            <p:cNvSpPr/>
            <p:nvPr/>
          </p:nvSpPr>
          <p:spPr>
            <a:xfrm flipH="1" flipV="1">
              <a:off x="3953546" y="2145444"/>
              <a:ext cx="1081670" cy="932474"/>
            </a:xfrm>
            <a:prstGeom prst="triangl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等腰三角形 4"/>
            <p:cNvSpPr/>
            <p:nvPr/>
          </p:nvSpPr>
          <p:spPr>
            <a:xfrm flipH="1">
              <a:off x="6205307" y="3127740"/>
              <a:ext cx="846479" cy="729724"/>
            </a:xfrm>
            <a:prstGeom prst="triangle">
              <a:avLst/>
            </a:prstGeom>
            <a:noFill/>
            <a:ln w="28575">
              <a:solidFill>
                <a:srgbClr val="E62D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等腰三角形 5"/>
            <p:cNvSpPr/>
            <p:nvPr/>
          </p:nvSpPr>
          <p:spPr>
            <a:xfrm flipH="1">
              <a:off x="6906229" y="1270481"/>
              <a:ext cx="649574" cy="559977"/>
            </a:xfrm>
            <a:prstGeom prst="triangle">
              <a:avLst/>
            </a:prstGeom>
            <a:noFill/>
            <a:ln>
              <a:solidFill>
                <a:srgbClr val="E62D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p:nvSpPr>
          <p:spPr>
            <a:xfrm flipH="1">
              <a:off x="7276186" y="2042184"/>
              <a:ext cx="493530" cy="425456"/>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p:nvSpPr>
          <p:spPr>
            <a:xfrm flipH="1">
              <a:off x="4394614" y="1477001"/>
              <a:ext cx="352219" cy="303636"/>
            </a:xfrm>
            <a:prstGeom prst="triangl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p:nvSpPr>
          <p:spPr>
            <a:xfrm flipH="1">
              <a:off x="3689573" y="2373726"/>
              <a:ext cx="196350" cy="169268"/>
            </a:xfrm>
            <a:prstGeom prst="triangle">
              <a:avLst/>
            </a:prstGeom>
            <a:noFill/>
            <a:ln>
              <a:solidFill>
                <a:srgbClr val="E62D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flipH="1" flipV="1">
              <a:off x="8207902" y="2467640"/>
              <a:ext cx="196350" cy="169268"/>
            </a:xfrm>
            <a:prstGeom prst="triangl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flipH="1" flipV="1">
              <a:off x="4606885" y="3821453"/>
              <a:ext cx="139948" cy="120644"/>
            </a:xfrm>
            <a:prstGeom prst="triangle">
              <a:avLst/>
            </a:prstGeom>
            <a:noFill/>
            <a:ln>
              <a:solidFill>
                <a:srgbClr val="E62D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p:nvSpPr>
          <p:spPr>
            <a:xfrm flipH="1">
              <a:off x="7802919" y="1279695"/>
              <a:ext cx="581091" cy="500941"/>
            </a:xfrm>
            <a:prstGeom prst="triangl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p:nvSpPr>
          <p:spPr>
            <a:xfrm flipH="1" flipV="1">
              <a:off x="8306077" y="989327"/>
              <a:ext cx="196350" cy="169268"/>
            </a:xfrm>
            <a:prstGeom prst="triangl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5244499" y="1884829"/>
              <a:ext cx="1921615" cy="1643044"/>
            </a:xfrm>
            <a:prstGeom prst="rect">
              <a:avLst/>
            </a:prstGeom>
            <a:noFill/>
          </p:spPr>
          <p:txBody>
            <a:bodyPr wrap="square" rtlCol="0">
              <a:spAutoFit/>
            </a:bodyPr>
            <a:lstStyle/>
            <a:p>
              <a:pPr algn="ctr"/>
              <a:r>
                <a:rPr lang="zh-CN" altLang="en-US" sz="8000" dirty="0">
                  <a:solidFill>
                    <a:schemeClr val="bg1"/>
                  </a:solidFill>
                  <a:latin typeface="张海山锐谐体" panose="02000000000000000000" pitchFamily="2" charset="-122"/>
                  <a:ea typeface="张海山锐谐体" panose="02000000000000000000" pitchFamily="2" charset="-122"/>
                </a:rPr>
                <a:t>感谢观看</a:t>
              </a:r>
            </a:p>
          </p:txBody>
        </p:sp>
        <p:sp>
          <p:nvSpPr>
            <p:cNvPr id="15" name="椭圆 14"/>
            <p:cNvSpPr/>
            <p:nvPr/>
          </p:nvSpPr>
          <p:spPr>
            <a:xfrm>
              <a:off x="4446795" y="3013161"/>
              <a:ext cx="99805" cy="9980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p:nvSpPr>
          <p:spPr>
            <a:xfrm>
              <a:off x="6063685" y="3825090"/>
              <a:ext cx="64747" cy="6474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椭圆 16"/>
            <p:cNvSpPr/>
            <p:nvPr/>
          </p:nvSpPr>
          <p:spPr>
            <a:xfrm>
              <a:off x="8185042" y="2444780"/>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extLst>
      <p:ext uri="{BB962C8B-B14F-4D97-AF65-F5344CB8AC3E}">
        <p14:creationId xmlns:p14="http://schemas.microsoft.com/office/powerpoint/2010/main" val="158892290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E62D30"/>
      </a:accent1>
      <a:accent2>
        <a:srgbClr val="C2C2C2"/>
      </a:accent2>
      <a:accent3>
        <a:srgbClr val="E62D30"/>
      </a:accent3>
      <a:accent4>
        <a:srgbClr val="C2C2C2"/>
      </a:accent4>
      <a:accent5>
        <a:srgbClr val="292929"/>
      </a:accent5>
      <a:accent6>
        <a:srgbClr val="D6D6D6"/>
      </a:accent6>
      <a:hlink>
        <a:srgbClr val="0563C1"/>
      </a:hlink>
      <a:folHlink>
        <a:srgbClr val="954F72"/>
      </a:folHlink>
    </a:clrScheme>
    <a:fontScheme name="模板专用">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44546A"/>
    </a:dk2>
    <a:lt2>
      <a:srgbClr val="E7E6E6"/>
    </a:lt2>
    <a:accent1>
      <a:srgbClr val="E62D30"/>
    </a:accent1>
    <a:accent2>
      <a:srgbClr val="C2C2C2"/>
    </a:accent2>
    <a:accent3>
      <a:srgbClr val="E62D30"/>
    </a:accent3>
    <a:accent4>
      <a:srgbClr val="C2C2C2"/>
    </a:accent4>
    <a:accent5>
      <a:srgbClr val="292929"/>
    </a:accent5>
    <a:accent6>
      <a:srgbClr val="D6D6D6"/>
    </a:accent6>
    <a:hlink>
      <a:srgbClr val="0563C1"/>
    </a:hlink>
    <a:folHlink>
      <a:srgbClr val="954F72"/>
    </a:folHlink>
  </a:clrScheme>
</a:themeOverride>
</file>

<file path=ppt/theme/themeOverride2.xml><?xml version="1.0" encoding="utf-8"?>
<a:themeOverride xmlns:a="http://schemas.openxmlformats.org/drawingml/2006/main">
  <a:clrScheme name="Office">
    <a:dk1>
      <a:srgbClr val="000000"/>
    </a:dk1>
    <a:lt1>
      <a:srgbClr val="FFFFFF"/>
    </a:lt1>
    <a:dk2>
      <a:srgbClr val="44546A"/>
    </a:dk2>
    <a:lt2>
      <a:srgbClr val="E7E6E6"/>
    </a:lt2>
    <a:accent1>
      <a:srgbClr val="E62D30"/>
    </a:accent1>
    <a:accent2>
      <a:srgbClr val="C2C2C2"/>
    </a:accent2>
    <a:accent3>
      <a:srgbClr val="E62D30"/>
    </a:accent3>
    <a:accent4>
      <a:srgbClr val="C2C2C2"/>
    </a:accent4>
    <a:accent5>
      <a:srgbClr val="292929"/>
    </a:accent5>
    <a:accent6>
      <a:srgbClr val="D6D6D6"/>
    </a:accent6>
    <a:hlink>
      <a:srgbClr val="0563C1"/>
    </a:hlink>
    <a:folHlink>
      <a:srgbClr val="954F72"/>
    </a:folHlink>
  </a:clrScheme>
</a:themeOverride>
</file>

<file path=ppt/theme/themeOverride3.xml><?xml version="1.0" encoding="utf-8"?>
<a:themeOverride xmlns:a="http://schemas.openxmlformats.org/drawingml/2006/main">
  <a:clrScheme name="Office">
    <a:dk1>
      <a:srgbClr val="000000"/>
    </a:dk1>
    <a:lt1>
      <a:srgbClr val="FFFFFF"/>
    </a:lt1>
    <a:dk2>
      <a:srgbClr val="44546A"/>
    </a:dk2>
    <a:lt2>
      <a:srgbClr val="E7E6E6"/>
    </a:lt2>
    <a:accent1>
      <a:srgbClr val="E62D30"/>
    </a:accent1>
    <a:accent2>
      <a:srgbClr val="C2C2C2"/>
    </a:accent2>
    <a:accent3>
      <a:srgbClr val="E62D30"/>
    </a:accent3>
    <a:accent4>
      <a:srgbClr val="C2C2C2"/>
    </a:accent4>
    <a:accent5>
      <a:srgbClr val="292929"/>
    </a:accent5>
    <a:accent6>
      <a:srgbClr val="D6D6D6"/>
    </a:accent6>
    <a:hlink>
      <a:srgbClr val="0563C1"/>
    </a:hlink>
    <a:folHlink>
      <a:srgbClr val="954F72"/>
    </a:folHlink>
  </a:clrScheme>
</a:themeOverride>
</file>

<file path=ppt/theme/themeOverride4.xml><?xml version="1.0" encoding="utf-8"?>
<a:themeOverride xmlns:a="http://schemas.openxmlformats.org/drawingml/2006/main">
  <a:clrScheme name="Office">
    <a:dk1>
      <a:srgbClr val="000000"/>
    </a:dk1>
    <a:lt1>
      <a:srgbClr val="FFFFFF"/>
    </a:lt1>
    <a:dk2>
      <a:srgbClr val="44546A"/>
    </a:dk2>
    <a:lt2>
      <a:srgbClr val="E7E6E6"/>
    </a:lt2>
    <a:accent1>
      <a:srgbClr val="E62D30"/>
    </a:accent1>
    <a:accent2>
      <a:srgbClr val="C2C2C2"/>
    </a:accent2>
    <a:accent3>
      <a:srgbClr val="E62D30"/>
    </a:accent3>
    <a:accent4>
      <a:srgbClr val="C2C2C2"/>
    </a:accent4>
    <a:accent5>
      <a:srgbClr val="292929"/>
    </a:accent5>
    <a:accent6>
      <a:srgbClr val="D6D6D6"/>
    </a:accent6>
    <a:hlink>
      <a:srgbClr val="0563C1"/>
    </a:hlink>
    <a:folHlink>
      <a:srgbClr val="954F72"/>
    </a:folHlink>
  </a:clrScheme>
</a:themeOverride>
</file>

<file path=ppt/theme/themeOverride5.xml><?xml version="1.0" encoding="utf-8"?>
<a:themeOverride xmlns:a="http://schemas.openxmlformats.org/drawingml/2006/main">
  <a:clrScheme name="Office">
    <a:dk1>
      <a:srgbClr val="000000"/>
    </a:dk1>
    <a:lt1>
      <a:srgbClr val="FFFFFF"/>
    </a:lt1>
    <a:dk2>
      <a:srgbClr val="44546A"/>
    </a:dk2>
    <a:lt2>
      <a:srgbClr val="E7E6E6"/>
    </a:lt2>
    <a:accent1>
      <a:srgbClr val="E62D30"/>
    </a:accent1>
    <a:accent2>
      <a:srgbClr val="C2C2C2"/>
    </a:accent2>
    <a:accent3>
      <a:srgbClr val="E62D30"/>
    </a:accent3>
    <a:accent4>
      <a:srgbClr val="C2C2C2"/>
    </a:accent4>
    <a:accent5>
      <a:srgbClr val="292929"/>
    </a:accent5>
    <a:accent6>
      <a:srgbClr val="D6D6D6"/>
    </a:accent6>
    <a:hlink>
      <a:srgbClr val="0563C1"/>
    </a:hlink>
    <a:folHlink>
      <a:srgbClr val="954F72"/>
    </a:folHlink>
  </a:clrScheme>
</a:themeOverride>
</file>

<file path=ppt/theme/themeOverride6.xml><?xml version="1.0" encoding="utf-8"?>
<a:themeOverride xmlns:a="http://schemas.openxmlformats.org/drawingml/2006/main">
  <a:clrScheme name="Office">
    <a:dk1>
      <a:srgbClr val="000000"/>
    </a:dk1>
    <a:lt1>
      <a:srgbClr val="FFFFFF"/>
    </a:lt1>
    <a:dk2>
      <a:srgbClr val="44546A"/>
    </a:dk2>
    <a:lt2>
      <a:srgbClr val="E7E6E6"/>
    </a:lt2>
    <a:accent1>
      <a:srgbClr val="E62D30"/>
    </a:accent1>
    <a:accent2>
      <a:srgbClr val="C2C2C2"/>
    </a:accent2>
    <a:accent3>
      <a:srgbClr val="E62D30"/>
    </a:accent3>
    <a:accent4>
      <a:srgbClr val="C2C2C2"/>
    </a:accent4>
    <a:accent5>
      <a:srgbClr val="292929"/>
    </a:accent5>
    <a:accent6>
      <a:srgbClr val="D6D6D6"/>
    </a:accent6>
    <a:hlink>
      <a:srgbClr val="0563C1"/>
    </a:hlink>
    <a:folHlink>
      <a:srgbClr val="954F72"/>
    </a:folHlink>
  </a:clrScheme>
</a:themeOverride>
</file>

<file path=ppt/theme/themeOverride7.xml><?xml version="1.0" encoding="utf-8"?>
<a:themeOverride xmlns:a="http://schemas.openxmlformats.org/drawingml/2006/main">
  <a:clrScheme name="Office">
    <a:dk1>
      <a:srgbClr val="000000"/>
    </a:dk1>
    <a:lt1>
      <a:srgbClr val="FFFFFF"/>
    </a:lt1>
    <a:dk2>
      <a:srgbClr val="44546A"/>
    </a:dk2>
    <a:lt2>
      <a:srgbClr val="E7E6E6"/>
    </a:lt2>
    <a:accent1>
      <a:srgbClr val="E62D30"/>
    </a:accent1>
    <a:accent2>
      <a:srgbClr val="C2C2C2"/>
    </a:accent2>
    <a:accent3>
      <a:srgbClr val="E62D30"/>
    </a:accent3>
    <a:accent4>
      <a:srgbClr val="C2C2C2"/>
    </a:accent4>
    <a:accent5>
      <a:srgbClr val="292929"/>
    </a:accent5>
    <a:accent6>
      <a:srgbClr val="D6D6D6"/>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177</TotalTime>
  <Words>1677</Words>
  <Application>Microsoft Office PowerPoint</Application>
  <PresentationFormat>宽屏</PresentationFormat>
  <Paragraphs>108</Paragraphs>
  <Slides>19</Slides>
  <Notes>10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19</vt:i4>
      </vt:variant>
    </vt:vector>
  </HeadingPairs>
  <TitlesOfParts>
    <vt:vector size="24" baseType="lpstr">
      <vt:lpstr>等线</vt:lpstr>
      <vt:lpstr>张海山锐谐体</vt:lpstr>
      <vt:lpstr>Arial</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http://www.ypppt.com/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cp:keywords>http:/www.ypppt.com</cp:keywords>
  <dc:description>http://www.ypppt.com/</dc:description>
  <cp:lastModifiedBy>Red</cp:lastModifiedBy>
  <cp:revision>82</cp:revision>
  <dcterms:created xsi:type="dcterms:W3CDTF">2016-04-15T12:42:35Z</dcterms:created>
  <dcterms:modified xsi:type="dcterms:W3CDTF">2024-10-14T05:44:11Z</dcterms:modified>
</cp:coreProperties>
</file>